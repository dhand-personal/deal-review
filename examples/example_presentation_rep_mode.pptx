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6222C"/>
                </a:solidFill>
                <a:latin typeface="+mn-lt"/>
              </a:defRPr>
            </a:pPr>
            <a:r>
              <a:rPr sz="1400" b="0" i="0" u="none" strike="noStrike">
                <a:solidFill>
                  <a:srgbClr val="16222C"/>
                </a:solidFill>
                <a:latin typeface="+mn-lt"/>
              </a:rPr>
              <a:t>Records each person took part in, of 7</a:t>
            </a:r>
          </a:p>
        </c:rich>
      </c:tx>
      <c:layout/>
      <c:overlay val="0"/>
    </c:title>
    <c:autoTitleDeleted val="0"/>
    <c:plotArea>
      <c:layout/>
      <c:barChart>
        <c:barDir val="bar"/>
        <c:grouping val="clustered"/>
        <c:varyColors val="0"/>
        <c:ser>
          <c:idx val="0"/>
          <c:order val="0"/>
          <c:tx>
            <c:strRef>
              <c:f>Sheet1!$B$1</c:f>
              <c:strCache>
                <c:ptCount val="1"/>
                <c:pt idx="0">
                  <c:v>Records taken part in (of 7)</c:v>
                </c:pt>
              </c:strCache>
            </c:strRef>
          </c:tx>
          <c:spPr>
            <a:solidFill>
              <a:srgbClr val="2F6DB5"/>
            </a:solidFill>
            <a:effectLst/>
          </c:spPr>
          <c:invertIfNegative val="0"/>
          <c:dLbls>
            <c:numFmt formatCode="#,##0" sourceLinked="0"/>
            <c:txPr>
              <a:bodyPr/>
              <a:lstStyle/>
              <a:p>
                <a:pPr>
                  <a:defRPr b="0" i="0" strike="noStrike" sz="1200" u="none">
                    <a:solidFill>
                      <a:srgbClr val="16222C"/>
                    </a:solidFill>
                    <a:latin typeface="+mn-lt"/>
                  </a:defRPr>
                </a:pPr>
              </a:p>
            </c:txPr>
            <c:showLegendKey val="0"/>
            <c:showVal val="1"/>
            <c:showCatName val="0"/>
            <c:showSerName val="0"/>
            <c:showPercent val="0"/>
            <c:showBubbleSize val="0"/>
            <c:showLeaderLines val="0"/>
          </c:dLbls>
          <c:cat>
            <c:multiLvlStrRef>
              <c:f>Sheet1!$A$2:$A$7</c:f>
              <c:multiLvlStrCache>
                <c:ptCount val="6"/>
                <c:lvl>
                  <c:pt idx="0">
                    <c:v>Tom Kessler</c:v>
                  </c:pt>
                  <c:pt idx="1">
                    <c:v>Raquel Dunn</c:v>
                  </c:pt>
                  <c:pt idx="2">
                    <c:v>Nate Ruiz</c:v>
                  </c:pt>
                  <c:pt idx="3">
                    <c:v>Ian Frost</c:v>
                  </c:pt>
                  <c:pt idx="4">
                    <c:v>Dr. Helen Cho</c:v>
                  </c:pt>
                  <c:pt idx="5">
                    <c:v>Priya Anand</c:v>
                  </c:pt>
                </c:lvl>
              </c:multiLvlStrCache>
            </c:multiLvlStrRef>
          </c:cat>
          <c:val>
            <c:numRef>
              <c:f>Sheet1!$B$2:$B$7</c:f>
              <c:numCache>
                <c:formatCode>General</c:formatCode>
                <c:ptCount val="6"/>
                <c:pt idx="0">
                  <c:v>6</c:v>
                </c:pt>
                <c:pt idx="1">
                  <c:v>5</c:v>
                </c:pt>
                <c:pt idx="2">
                  <c:v>2</c:v>
                </c:pt>
                <c:pt idx="3">
                  <c:v>1</c:v>
                </c:pt>
                <c:pt idx="4">
                  <c:v>1</c:v>
                </c:pt>
                <c:pt idx="5">
                  <c:v>0</c:v>
                </c:pt>
              </c:numCache>
            </c:numRef>
          </c:val>
        </c:ser>
        <c:dLbls>
          <c:numFmt formatCode="#,##0" sourceLinked="0"/>
          <c:txPr>
            <a:bodyPr/>
            <a:lstStyle/>
            <a:p>
              <a:pPr>
                <a:defRPr b="0" i="0" strike="noStrike" sz="1200" u="none">
                  <a:solidFill>
                    <a:srgbClr val="16222C"/>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6222C"/>
                </a:solidFill>
                <a:latin typeface="+mn-lt"/>
              </a:defRPr>
            </a:pPr>
            <a:endParaRPr lang="en-US"/>
          </a:p>
        </c:txPr>
        <c:crossAx val="2094734552"/>
        <c:crosses val="autoZero"/>
        <c:auto val="1"/>
        <c:lblAlgn val="ctr"/>
        <c:noMultiLvlLbl val="1"/>
      </c:catAx>
      <c:valAx>
        <c:axId val="2094734552"/>
        <c:scaling>
          <c:orientation val="minMax"/>
          <c:max val="7"/>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VERDICT: Strong (new business scale). Gating dimensions: Need Confirmed, Timing Confirmed, People Confirmed (economic buyer engaged by a buyer action, the redlines of 9/29; champion has volunteered, test shown as Proposed). Buying process is split: budget owner and approver Confirmed, signer for Bluebird Dental Holdings LLC Unknown. A split counts as its weaker part, but this is a findable item the buyer is actively working (Raquel, 9/29: "will let you know"), so Strong still fits. Resolution date and downgrade trigger: Wed 10/14.
BIGGEST HIDDEN ASSUMPTION: the CRM Notes entry of 10/5 calls the redlines "mostly clean-up language on liability cap and data retention," and the Paper Process field says "Raquel signs." Raquel's own 9/29 email adds two items that are not wording: payment terms changed to net 60, and the contracting party is Bluebird Dental Holdings LLC with signing authority still being confirmed with Ian. Our 10/3 reply says net 30 stands and that we have not reached net 60.
FIRST ACTION: Maya offered a call "this week" in the 10/3 email. The reply Bluebird is expected to send on 10/10 is a Saturday, so the practical date is Fri 10/9 or Mon 10/12.
Forecast Category names (Pipeline, Best Case, Commit) are taken from the CRM history. The full picklist and the company's definitions were not in the snapshot, so the default definitions in the skill were applied and are labeled assumed.
No win percentage is given anywhere in this deck. The 16 days is counted from today, Wed 10/7, to Fri 10/23.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BASELINE (CRM snapshot, as of the export; Last Activity Date 10/3):
- Account: Bluebird Dental Group, nine locations, three opening 12/1. Opportunity: Bluebird Dental - Orbit Scheduling. Pipeline New Business. Owner Maya Patel. Created 7/8 (rep entry), which is before the first logged communication on 7/14, so no reliability concern on the created date. The intro email Maya refers to on 7/14 is not in the record.
- Amount basis: $60,000, annual, 12-month term (stated in the CRM). List $68,182 per the 8/27 pricing call (buyer heard it from Maya, rep statement). 68,182 less 12 percent is about $60,000. Deal desk approval is logged by the rep in the 10/1 note. Not a renewal, so no double counting question.
- Stage history: Discovery 7/8 to 7/16, Evaluation 7/16 to 8/28, Proposal 8/28 to 9/24, Contract Sent from 9/24. Close Date history: set 7/8 to 10/23, no changes. Forecast Category history: Pipeline 7/8, Best Case 8/28, Commit 9/22 (the 9/22 note records the reason: Tom reported the leadership meeting went well, which is the rep's own entry).
- Tidewell spend of about $52,000: Raquel, 9/10 call, buyer statement.
- Buyer statements on timing, budget, process are all from the 7/14 discovery call and the 8/27 pricing call transcripts. The $50,000 threshold: Raquel, 8/27 11:00 AM call, 06:30 mark.
- Days: 16 days from Wed 10/7 to Fri 10/23. 10/10 and the CRM Next Activity Date fall on a Saturday.
- Competitors named: ClinicQ (CRM, Dr. Cho 8/6). Tom said on 7/14 "we looked at a couple of options already. ClinicQ is one," so at least one other option is unnamed.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METHODOLOGY: the CRM field labels (Identified Pain, Metrics, Economic Buyer, Decision Criteria, Decision Process, Paper Process, Champion, Competition) follow MEDDPICC. The calls themselves do not use MEDDPICC vocabulary by name; the elements were worked in plain language. CRM terms are shown beside each dimension.
1 Need, Confirmed. Raquel 7/14 (buyer statement, 01:05): a front desk at one office cannot see a hygienist's schedule at another, providers double-booked more than once. Tom 7/14: "It's weekly." Dr. Cho 8/6 and Tom's 9/18 email (front desks lose real hours) repeat it.
2 Timing, Confirmed. Raquel 7/14 (03:25): Tidewell ends November 30 and she is not renewing; three new locations open December 1; decision in the fall. Buyer statement. Consequence of doing nothing is stated by the buyer.
3 Differentiation, split. Dr. Cho 8/6 (10:40, 17:10): ClinicQ reports one location at a time, "it's out for me", and she will tell Raquel it is not an option. That is a buyer statement from the clinical evaluator; Raquel has not said it herself in the record. The CRM Notes entry dated 8/28 says Cho dropped ClinicQ, but the call was 8/6, so the note was logged 22 days later. Tom said on 7/14 they had looked at "a couple of options". Only ClinicQ is named. Status quo is Tidewell, which Raquel is leaving.
4 Value, Assumed. The CRM Metrics field says no-show rate from roughly 11 percent to under 8 percent, not yet baselined. No call or email in the record mentions no-shows. This is rep-reported and unverified. The buyer's own measures in the record: Tidewell cost of about $52,000 against $60,000 (Ian and Raquel, 9/10), front desks losing hours (Tom 9/10 and 9/18), cross-location comparison (Cho 8/6).
5 Evaluation process, Confirmed. Demo 8/6 with Tom, Cho, Nate. Nate's 9/18 email (buyer action): all items covered, no open items, he will tell Raquel. "Ease of use for front desk" in the CRM Decision Criteria is not stated as a criterion on any call; Tom's cross-location booking question on 8/6 is the closest.
6 Buying process, split. Raquel 8/27: "It's my budget, but anything over fifty thousand goes past him" (Ian). Ian 9/10: "I have no objection to the purchase. Raquel, you have my support if the terms are reasonable." Paper path: Raquel marked up the agreement herself, with outside counsel Priya Anand on liability and data (9/29 email). Signer: Raquel is confirming with Ian who has signing authority for Bluebird Dental Holdings LLC. Unknown, findable, buyer working it.
7 People, Confirmed. See slides 4 and 5.
8 Commercials, split. Price: Ian accepted about $5,000 per location on 9/10 ("Fine"). Open: payment terms (Ian asked for net 60 on 9/10 and via Tom on 9/18, Raquel wrote net 60 into the 9/29 redline, Maya's 10/3 reply holds net 30 and offers a middle-ground call), and the section 9 data-breach carve-out change we proposed 10/3. Promised but with no evidence in the record: cost per location shown on the order form (CRM note says Done) and the 5 percent renewal cap in writing (Maya, 9/10).
9 Plan and momentum, split. Plan sent 9/5, Tom replied "Looks right to me". Dates met by buyer action: Ian call 9/10, Nate 9/18, redlines 9/29. 10/10 reply date appears in our plan and in Maya's 10/3 email ("you mentioned your reply would come around the 10th"); that remark is not in the record from Raquel. Last buyer-originated item in the record is Raquel's 9/29 email, 8 days ago.
10 Outside risks, Assumed. No spending freeze, reorg or competitor move in the record. Onboarding of twelve locations from 11/2 and migration complete 11/16 come from our own plan; the plan itself says the parallel run is the first date at risk.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ROLES, with how we know:
- Economic buyer, Raquel Dunn, COO. Buyer statement 8/27: "It's my budget." Buyer action 9/29: sent redlines. Present on the 7/14, 8/27 and 9/10 calls (not the 8/6 demo); addressed on the 9/5 email.
- Finance approver, Ian Frost, CFO. 9/10 call only. Buyer statement: "I have no objection to the purchase. Raquel, you have my support if the terms are reasonable." No email from Ian in the record. His signing authority for Bluebird Dental Holdings LLC is what Raquel said she would confirm with him.
- Technical buyer, Nate Ruiz, IT contractor (external firm domain). Demo 8/6; email 9/18 (buyer action).
- Evaluator, Dr. Helen Cho. Demo 8/6 only. Her 9/17 comment is reported by Tom's 9/18 email (buyer statement, secondhand).
- Champion, Tom Kessler. Present in six of seven records.
- Legal, Priya Anand, outside counsel (anandlaw domain). Copied on the 9/29 and 10/3 messages; has not written. Not among the five CRM contacts.
- Coach: not identified. Known skeptic: not identified.
CHAMPION FIVE QUESTIONS
1 Sells internally: yes. Ian on 9/10 said he wanted leadership's view after Tom's presentation; Tom's 9/18 email says he presented on 9/17 to Raquel, Ian, regional managers and Dr. Cho with no pushback (Tom's own report, buyer statement, secondhand).
2 Introduces us to others: yes. On 8/27 Tom volunteered to set up Ian (and said not to send a one-pager); the Ian call happened 9/10 with Raquel also on it.
3 Access to the economic buyer: yes, and Maya also has direct access to Raquel, so the deal does not depend on Tom for this.
4 Survives if he leaves: likely yes, because Raquel owns the budget and is working the paper herself.
5 Equipped: no. Nothing in the record shows a business case, ROI view, reference or baselined metric given to Tom. On 8/27 Tom told Maya not to send a one-pager.
READ: Strong champion. The gap is the equipping and an untested ask.
AGED EVIDENCE: not a renewal, so no aging applies.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THREAD COUNT (computed from the seven communication records, not from the CRM contact count; a person counts only if they wrote, attended or were directly addressed; being copied does not count):
Records: 7/14 discovery call; 8/6 demo; 8/27 pricing call; 9/5 email (close plan, Tom replied); 9/10 finance call; 9/18 email thread (Tom, Maya, Nate); 9/29 and 10/3 email thread.
- Tom: 7/14, 8/6, 8/27, 9/5, 9/10, 9/18 = 6 of 7. On the 10/3 thread he is copied only.
- Raquel: 7/14, 8/27, 9/5 (addressed), 9/10, 9/29-10/3 thread (wrote) = 5 of 7. Not on the 8/6 demo or the 9/18 thread.
- Nate: 8/6, 9/18 = 2 of 7.
- Ian: 9/10 = 1 of 7.
- Dr. Cho: 8/6 = 1 of 7. Her 9/17 leadership-meeting comment is reported secondhand by Tom.
- Priya Anand: copied on the 9/29 and 10/3 messages, has not written or been on a call = 0 of 7.
- Maya: all 7.
The CRM lists five contacts. Priya is not one of them.
The CRM shows Tom last contacted 10/2. No record of a 10/2 touch is in the data provided, so that entry is not available to verify.
CHAMPION TEST LOGIC: the skill's status for a champion who delivered something unprompted is "Volunteered, not asked," shown as Proposed with a dated ask that costs the champion something. On 8/6 Maya said she would walk Raquel through pricing and Tom said he would get it on her calendar; that call took place 8/27, but it was the normal course of the deal and cost Tom little. The ask proposed here targets the current gap: the CFO's conditional support and net 60. Date: Fri 10/9, a weekday after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 CHECK: Contract Sent. Evidence: agreement sent 9/24 (rep's CRM entry and Maya's 9/5 plan); Raquel's redlines 9/29 are a buyer action that confirms receipt and review; Maya replied 10/3. Stage exit criteria and path guidance were not exposed in the snapshot, so the stage is judged against the plain meaning of the label. That is an assumption. Evidence supports the stage.
CLOSE DATE CHECK: Created 7/8 with a Close Date of 10/23 and never changed (zero pushes). It was set six days before the first documented conversation (7/14), so it was a rep estimate at creation; it has since been tracked by buyer actions: Ian call 9/10, Nate 9/18, redlines 9/29, all on the dates in the 9/5 plan. Remaining gates before signature: Bluebird reply on language, payment terms, entity and signer, any review by Priya of our section 9 change, and signature. The plan's signature target is Fri 10/16, a week ahead of the Close Date, which leaves one week of slack. The plan's reply date of 10/10 falls on a Saturday; the buyer did not state that date in the record (Tom wrote "Looks right to me" about the whole plan on 9/5; Maya's 10/3 email says Raquel mentioned "around the 10th"). Hard external dates: Tidewell ends Mon 11/30 and three sites open Tue 12/1 (Raquel, 7/14). The plan notes the parallel run in mid-November is the first date at risk if signature slips; kickoff is Mon 11/2.
FORECAST CATEGORY: the snapshot shows the category names Pipeline, Best Case and Commit in the history; the full picklist and the company's definitions were not provided. The skill's default definitions were applied and are labeled assumed. Commit test: economic buyer identified and engaged by a buyer action (yes), close date supported by buyer actions (yes to date), no gating dimension Unknown or Contradicted except a findable item with a dated resolution (signer, resolution date Wed 10/14). So Commit is supportable and not above the CRM. Confidence in the recommendation: Medium. Reasons for Medium and not High: Ian's position has not been heard directly since 9/10, the only buyer-originated item since 9/18 is Raquel's 9/29 email, and the Commit move on 9/22 rested on Tom's secondhand report (rep's CRM note), though later buyer actions have supported it. What would move it down to Best Case: no signer name and no agreement in principle on payment terms by Wed 10/14. Confidence that the category is wrong in the CRM's favor (that it should be lower today): 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Only fields that do not match are listed. Nine matched: Amount ($60,000 annual; 12 percent below $68,182 list; about $5,000 per location, Maya on 9/10), Deal Stage, Close Date, Forecast Category (matches the recommendation), Economic Buyer (Raquel, own statement 8/27 and redlines 9/29), Champion (Tom), Identified Pain (Raquel 7/14), Decision Criteria (cross-location reporting from Dr. Cho 8/6, security from Nate 9/18; front-desk ease of use is Tom's concern on 8/6), Decision Process (Tom, Dr. Cho, Nate evaluate; Ian and Raquel approve, per Raquel 7/14 and 8/27).
Paper Process: the field says Raquel signs. Raquel wrote on 9/29: "the contracting party on our side is Bluebird Dental Holdings LLC, not the group name on the draft. I'm confirming with Ian who has signing authority for that entity." Maya's 10/3 reply asked for the signer's name and title. The CRM's Associated Company is Bluebird Dental Group. Nothing in the record says Raquel signs, and Raquel's own email leaves it open. Status Unsupported; the gap is real (the question is open), not a recording gap.
Metrics: rep-reported and unverified. The CRM itself says "not yet baselined with customer data." Real gap in the work, not just the recording.
Next Step: the log is complete through 10/3. The headline says "customer counsel redlines due back 10/10." Raquel marked up the agreement herself with Priya reviewing two sections, and the date originates from our plan.
Notes 10/5: Raquel herself wrote "Most of it is clean-up," so the description is fair on language. It leaves out payment terms and the entity. Stale (incomplete), not wrong.
Notes 10/1: the note says deal desk approved the discount on 10/1. On the 9/10 call Maya quoted "about $5,000 per location across twelve," which is $60,000 divided by twelve, not the $68,182 list (about $5,682). The agreement was sent 9/24. The record does not show which price the 9/24 agreement carried, so the order of events is unexplained. This may be a late log entry. Marked Unsupported on the date only.
Competition: ClinicQ out is a buyer statement from Dr. Cho (8/6). The CRM Notes entry dated 8/28 puts the drop on a later date than the call. Other options are unnamed.
Contacts: Priya Anand appears on the 9/29 and 10/3 messages. Also promised items with no document in the record: cost per location on the order form ("Done" in the 9/10 CRM note) and the 5 percent renewal cap in writing (Maya, 9/10): no evidence either is in the agreement. The CRM says Tom was last contacted 10/2; that touch is not in the record provided.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residual items on a Strong deal. They are findable and the buyer is working the first one. Routine contract-stage items (clean-up language, data retention, party-name change already made in our 10/3 redline) are grouped here and not listed separately: section 11 data retention was accepted by Maya on 10/3 (data returned within 30 days of termination), and the party name was updated to Bluebird Dental Holdings LLC.
1 Who signs. Source: Raquel, 9/29 email (buyer statement). Maya asked for the signer's name and title on 10/3 so the signature block can be added. A buyer action on this item is still due.
2 Payment terms. Sources: Ian 9/10 ("Our standard is net sixty"), Tom 9/18 ("Ian still wants to see net 60 in the agreement"), Raquel 9/29 redline, Maya 10/3 ("We've offered net 30 and I wasn't able to get to net 60 yet. I would like to find a middle ground and I'm happy to get on a call this week"). On 9/10 Maya said she would see what she could do and come back to Raquel; the record shows no answer between 9/10 and 10/3. Ian's support is conditional on reasonable terms, so this is the item that tests it. No evidence of what the deal desk approval of 10/1 covers on terms.
3 Section 9. Maya 10/3: accepted Raquel's cap language with one small change to the carve-out for data breach, "which Priya may want to look at." If Priya responds, this could add a round; the plan has one week of slack between the 10/16 signature target and the 10/23 Close Date.
4 Baseline. Not gating. It is what the champion would use as a business case, and it is the only measure the CRM Metrics field names. The 11 percent and 8 percent figures in the CRM are rep-entered with no buyer source in the record.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questions, as the reviewers will likely put them to the deal owner. Each ties to a gap in the record. Strong deal, so three to five questions.
1 Signer. Evidence: Raquel, 9/29 email. Maya asked for name and title on 10/3. Draft answer: the name is expected from Raquel by Mon 10/12; if it names someone other than Raquel, Paper Process in the CRM changes.
2 Payment terms. Evidence: Ian 9/10 (07:20 and 08:05), Tom 9/18, Raquel 9/29, Maya 10/3. The answer needs the deal desk position, which is not in the record. The target is the Fri 10/16 signature target in the 9/5 plan.
3 Metrics. Evidence: CRM Metrics field says "Not yet baselined with customer data." No record mentions no-shows. Draft answer: ask Tom and Raquel for their own baseline of double-booking incidents and front-desk hours per week.
4 Price sequence. Evidence: Maya 9/10 call (02:25): "about $5,000 per location across twelve"; 8/27 call: list $68,182; CRM note: approval dated 10/1; agreement sent 9/24 (CRM Next Step Log). Also, "cost per location in the final order form. Done" (CRM note 9/10) and "Capped at five percent. I'll put it in writing" (Maya 9/10): the agreement and order form are not in the record, so there is no evidence either was included. Phrase as a record question, to be answered by checking the documents.
5 Champion test. See slide 5.
Not asked here because the record answers them: whether the need is real (Raquel 7/14), whether there is a compelling event (Tidewell 11/30, sites 12/1), whether the economic buyer has engaged (redlines 9/29).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due dates are weekdays after today, Wed 10/7.
- Thu 10/8: Maya's positions on terms and on the documents. The 9/10 call left Maya to "see what I can do and come back to Raquel" on net terms; the 10/3 email offers a middle ground without naming one, so the internal position comes first.
- Fri 10/9: the call. The 10/3 email already offered "a call this week." Fallback if the call cannot be held by Fri 10/9: Mon 10/12, before Bluebird's planned reply (which falls on Sat 10/10).
- Fri 10/9: champion ask to Tom, as proposed on slide 5. Verifiable: Ian attends the call or writes.
- Mon 10/12: signer. Raquel said she would let us know once confirmed with Ian.
- Mon 10/12: CRM corrections are proposed, not made by this review. The deal review does not write to the CRM; hand to the CRM deal updater, which asks for approval before each change. Proposed changes: add Priya Anand as outside counsel; Paper Process to state the signer once known; Next Step to state the open items and a weekday date; Notes to add net 60 and the entity change; Metrics to carry the rep-reported flag until a baseline exists.
- Wed 10/14: forecast checkpoint. This is also the dated downgrade trigger. The baseline request is not gating.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ASKS (rep mode): what the deal owner needs from the manager or panel. The first three follow from the open items on slide 8. The fourth follows from Outside risks, which is Assumed: onboarding dates (kickoff Mon 11/2, training sessions two per region in the first half of November per Maya's 9/18 email, migration complete Mon 11/16) rest on our own plan, and nothing in the record shows implementation capacity was checked.
TRIGGERS: the review is Strong because the signer is a findable item the buyer is working, with a named resolution date. Wed 10/14 is that date, two days before the Fri 10/16 signature target. If the trigger fires, the overall read becomes At risk (one gating item unresolved with the rest sound) and the recommended Forecast Category becomes Best Case, the middle category in the CRM history. The names of categories and the company's definitions were not in the snapshot; the common names were assumed.
The Mon 10/12 item exists because Bluebird's reply date of 10/10 is a Saturday and was not stated by Raquel in the record. Silence on 10/12 would be the first signal that the pace has changed. Last buyer-originated item in the record: Raquel's email of Tue 9/29.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weights used throughout: buyer actions (a sent document, a completed questionnaire, a held meeting) outweigh buyer statements, which outweigh the rep's own assessment. Everything the rep logged in the CRM, including Notes that quote the buyer, is the rep's own assessment. The call files are classed by their underlying source, so buyer words in a transcript are buyer statements.
An empty or missing source is a limit on the record, not a finding about the deal. Items listed in the CRM timeline whose content is not in the record, and so named as not available: the proposal (referenced on 8/27 as sent the week before), the intro email (referenced 7/14), the agreement sent 9/24, the 9/29 attachment and the 10/3 attached redline, and the contact with Tom logged 10/2.
Because the snapshot is a single pasted file, the Fetch order step (structured fields first, rep-written text last) does not apply in rep mode, and no independence disclosure is needed.
No text in the records tried to direct the analysis.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chemeClr val="tx2"/>
          </a:solidFill>
          <a:ln/>
        </p:spPr>
      </p:sp>
      <p:sp>
        <p:nvSpPr>
          <p:cNvPr id="25" name="Slide Number Placeholder 0"/>
          <p:cNvSpPr>
            <a:spLocks noGrp="1"/>
          </p:cNvSpPr>
          <p:nvPr>
            <p:ph type="sldNum" sz="quarter" idx="4294967295"/>
          </p:nvPr>
        </p:nvSpPr>
        <p:spPr>
          <a:xfrm>
            <a:off x="11247120" y="6419088"/>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bg2"/>
                </a:solidFill>
              </a:defRPr>
            </a:lvl1pPr>
          </a:lstStyle>
          <a:p>
            <a:pPr algn="l"/>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spTree>
      <p:nvGrpSpPr>
        <p:cNvPr id="1" name=""/>
        <p:cNvGrpSpPr/>
        <p:nvPr/>
      </p:nvGrpSpPr>
      <p:grpSpPr>
        <a:xfrm>
          <a:off x="0" y="0"/>
          <a:ext cx="0" cy="0"/>
          <a:chOff x="0" y="0"/>
          <a:chExt cx="0" cy="0"/>
        </a:xfrm>
      </p:grpSpPr>
      <p:sp>
        <p:nvSpPr>
          <p:cNvPr id="2" name="Text 0"/>
          <p:cNvSpPr/>
          <p:nvPr/>
        </p:nvSpPr>
        <p:spPr>
          <a:xfrm>
            <a:off x="548640" y="6419088"/>
            <a:ext cx="7315200" cy="274320"/>
          </a:xfrm>
          <a:prstGeom prst="rect">
            <a:avLst/>
          </a:prstGeom>
          <a:noFill/>
          <a:ln/>
        </p:spPr>
        <p:txBody>
          <a:bodyPr wrap="square" lIns="0" tIns="0" rIns="0" bIns="0" rtlCol="0" anchor="ctr"/>
          <a:lstStyle/>
          <a:p>
            <a:pPr indent="0" marL="0">
              <a:buNone/>
            </a:pPr>
            <a:r>
              <a:rPr lang="en-US" sz="1100" dirty="0">
                <a:solidFill>
                  <a:schemeClr val="accent6"/>
                </a:solidFill>
              </a:rPr>
              <a:t>Bluebird Dental, Orbit Scheduling | Deal review, rep mode</a:t>
            </a:r>
            <a:endParaRPr lang="en-US" sz="1100" dirty="0"/>
          </a:p>
        </p:txBody>
      </p:sp>
      <p:sp>
        <p:nvSpPr>
          <p:cNvPr id="3" name="Text 1"/>
          <p:cNvSpPr/>
          <p:nvPr>
            <p:ph idx="101" type="title" hasCustomPrompt="1"/>
          </p:nvPr>
        </p:nvSpPr>
        <p:spPr>
          <a:xfrm>
            <a:off x="548640" y="274320"/>
            <a:ext cx="11064240" cy="777240"/>
          </a:xfrm>
          <a:prstGeom prst="rect">
            <a:avLst/>
          </a:prstGeom>
          <a:noFill/>
          <a:ln/>
        </p:spPr>
        <p:txBody>
          <a:bodyPr wrap="square" rtlCol="0"/>
          <a:lstStyle>
            <a:lvl1pPr algn="l" indent="0" marL="0">
              <a:buNone/>
              <a:defRPr lang="en-US" sz="3000" b="1" dirty="0">
                <a:solidFill>
                  <a:schemeClr val="tx1"/>
                </a:solidFill>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11247120" y="6419088"/>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l"/>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_FRAME">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chemeClr val="tx2"/>
          </a:solidFill>
          <a:ln/>
        </p:spPr>
      </p:sp>
      <p:sp>
        <p:nvSpPr>
          <p:cNvPr id="3" name="Text 1"/>
          <p:cNvSpPr/>
          <p:nvPr>
            <p:ph idx="101" type="title" hasCustomPrompt="1"/>
          </p:nvPr>
        </p:nvSpPr>
        <p:spPr>
          <a:xfrm>
            <a:off x="640080" y="640080"/>
            <a:ext cx="6949440" cy="155448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19088"/>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bg2"/>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1"/>
          <p:cNvSpPr/>
          <p:nvPr>
            <p:ph idx="101" type="title" hasCustomPrompt="1"/>
          </p:nvPr>
        </p:nvSpPr>
        <p:spPr>
          <a:xfrm>
            <a:off x="640080" y="640080"/>
            <a:ext cx="6949440" cy="1554480"/>
          </a:xfrm>
          <a:prstGeom prst="rect">
            <a:avLst/>
          </a:prstGeom>
          <a:noFill/>
          <a:ln/>
        </p:spPr>
        <p:txBody>
          <a:bodyPr wrap="square" lIns="0" tIns="0" rIns="0" bIns="0" rtlCol="0" anchor="t"/>
          <a:lstStyle/>
          <a:p>
            <a:pPr algn="l" indent="0" marL="0">
              <a:buNone/>
            </a:pPr>
            <a:r>
              <a:rPr lang="en-US" sz="4000" b="1" dirty="0">
                <a:solidFill>
                  <a:schemeClr val="bg1"/>
                </a:solidFill>
              </a:rPr>
              <a:t>Bluebird Dental, Orbit Scheduling</a:t>
            </a:r>
            <a:endParaRPr lang="en-US" sz="4000" dirty="0"/>
          </a:p>
        </p:txBody>
      </p:sp>
      <p:sp>
        <p:nvSpPr>
          <p:cNvPr id="3" name="Subtitle"/>
          <p:cNvSpPr txBox="1"/>
          <p:nvPr/>
        </p:nvSpPr>
        <p:spPr>
          <a:xfrm>
            <a:off x="640080" y="2240280"/>
            <a:ext cx="6949440" cy="548640"/>
          </a:xfrm>
          <a:prstGeom prst="rect">
            <a:avLst/>
          </a:prstGeom>
          <a:noFill/>
          <a:ln/>
        </p:spPr>
        <p:txBody>
          <a:bodyPr wrap="square" lIns="0" tIns="0" rIns="0" bIns="0" rtlCol="0" anchor="ctr"/>
          <a:lstStyle/>
          <a:p>
            <a:pPr indent="0" marL="0">
              <a:buNone/>
            </a:pPr>
            <a:r>
              <a:rPr lang="en-US" sz="1600" dirty="0">
                <a:solidFill>
                  <a:schemeClr val="bg2"/>
                </a:solidFill>
              </a:rPr>
              <a:t>Deal review, rep mode. Presented by Maya Patel, Deal Owner. Wednesday, October 7, 2026.</a:t>
            </a:r>
            <a:endParaRPr lang="en-US" sz="1600" dirty="0"/>
          </a:p>
        </p:txBody>
      </p:sp>
      <p:sp>
        <p:nvSpPr>
          <p:cNvPr id="4" name="Takeaway label 1"/>
          <p:cNvSpPr txBox="1"/>
          <p:nvPr/>
        </p:nvSpPr>
        <p:spPr>
          <a:xfrm>
            <a:off x="640080" y="3063240"/>
            <a:ext cx="6949440" cy="256032"/>
          </a:xfrm>
          <a:prstGeom prst="rect">
            <a:avLst/>
          </a:prstGeom>
          <a:noFill/>
          <a:ln/>
        </p:spPr>
        <p:txBody>
          <a:bodyPr wrap="square" lIns="0" tIns="0" rIns="0" bIns="0" rtlCol="0" anchor="ctr"/>
          <a:lstStyle/>
          <a:p>
            <a:pPr indent="0" marL="0">
              <a:buNone/>
            </a:pPr>
            <a:r>
              <a:rPr lang="en-US" sz="1200" b="1" dirty="0">
                <a:solidFill>
                  <a:schemeClr val="accent4"/>
                </a:solidFill>
              </a:rPr>
              <a:t>THE READ</a:t>
            </a:r>
            <a:endParaRPr lang="en-US" sz="1200" dirty="0"/>
          </a:p>
        </p:txBody>
      </p:sp>
      <p:sp>
        <p:nvSpPr>
          <p:cNvPr id="5" name="Takeaway 1"/>
          <p:cNvSpPr txBox="1"/>
          <p:nvPr/>
        </p:nvSpPr>
        <p:spPr>
          <a:xfrm>
            <a:off x="640080" y="3337560"/>
            <a:ext cx="6949440" cy="777240"/>
          </a:xfrm>
          <a:prstGeom prst="rect">
            <a:avLst/>
          </a:prstGeom>
          <a:noFill/>
          <a:ln/>
        </p:spPr>
        <p:txBody>
          <a:bodyPr wrap="square" lIns="0" tIns="0" rIns="0" bIns="0" rtlCol="0" anchor="t"/>
          <a:lstStyle/>
          <a:p>
            <a:pPr indent="0" marL="0">
              <a:buNone/>
            </a:pPr>
            <a:r>
              <a:rPr lang="en-US" sz="1600" dirty="0">
                <a:solidFill>
                  <a:schemeClr val="bg1"/>
                </a:solidFill>
              </a:rPr>
              <a:t>Strong. Commit holds, with a dated check on Wed 10/14.</a:t>
            </a:r>
            <a:endParaRPr lang="en-US" sz="1600" dirty="0"/>
          </a:p>
        </p:txBody>
      </p:sp>
      <p:sp>
        <p:nvSpPr>
          <p:cNvPr id="6" name="Takeaway label 2"/>
          <p:cNvSpPr txBox="1"/>
          <p:nvPr/>
        </p:nvSpPr>
        <p:spPr>
          <a:xfrm>
            <a:off x="640080" y="4251960"/>
            <a:ext cx="6949440" cy="256032"/>
          </a:xfrm>
          <a:prstGeom prst="rect">
            <a:avLst/>
          </a:prstGeom>
          <a:noFill/>
          <a:ln/>
        </p:spPr>
        <p:txBody>
          <a:bodyPr wrap="square" lIns="0" tIns="0" rIns="0" bIns="0" rtlCol="0" anchor="ctr"/>
          <a:lstStyle/>
          <a:p>
            <a:pPr indent="0" marL="0">
              <a:buNone/>
            </a:pPr>
            <a:r>
              <a:rPr lang="en-US" sz="1200" b="1" dirty="0">
                <a:solidFill>
                  <a:schemeClr val="accent4"/>
                </a:solidFill>
              </a:rPr>
              <a:t>BIGGEST HIDDEN ASSUMPTION</a:t>
            </a:r>
            <a:endParaRPr lang="en-US" sz="1200" dirty="0"/>
          </a:p>
        </p:txBody>
      </p:sp>
      <p:sp>
        <p:nvSpPr>
          <p:cNvPr id="7" name="Takeaway 2"/>
          <p:cNvSpPr txBox="1"/>
          <p:nvPr/>
        </p:nvSpPr>
        <p:spPr>
          <a:xfrm>
            <a:off x="640080" y="4526280"/>
            <a:ext cx="6949440" cy="777240"/>
          </a:xfrm>
          <a:prstGeom prst="rect">
            <a:avLst/>
          </a:prstGeom>
          <a:noFill/>
          <a:ln/>
        </p:spPr>
        <p:txBody>
          <a:bodyPr wrap="square" lIns="0" tIns="0" rIns="0" bIns="0" rtlCol="0" anchor="t"/>
          <a:lstStyle/>
          <a:p>
            <a:pPr indent="0" marL="0">
              <a:buNone/>
            </a:pPr>
            <a:r>
              <a:rPr lang="en-US" sz="1600" dirty="0">
                <a:solidFill>
                  <a:schemeClr val="bg1"/>
                </a:solidFill>
              </a:rPr>
              <a:t>That the redlines are clean-up. Payment terms (net 60 against our net 30) and who signs for Bluebird Dental Holdings LLC are not language edits.</a:t>
            </a:r>
            <a:endParaRPr lang="en-US" sz="1600" dirty="0"/>
          </a:p>
        </p:txBody>
      </p:sp>
      <p:sp>
        <p:nvSpPr>
          <p:cNvPr id="8" name="Takeaway label 3"/>
          <p:cNvSpPr txBox="1"/>
          <p:nvPr/>
        </p:nvSpPr>
        <p:spPr>
          <a:xfrm>
            <a:off x="640080" y="5440680"/>
            <a:ext cx="6949440" cy="256032"/>
          </a:xfrm>
          <a:prstGeom prst="rect">
            <a:avLst/>
          </a:prstGeom>
          <a:noFill/>
          <a:ln/>
        </p:spPr>
        <p:txBody>
          <a:bodyPr wrap="square" lIns="0" tIns="0" rIns="0" bIns="0" rtlCol="0" anchor="ctr"/>
          <a:lstStyle/>
          <a:p>
            <a:pPr indent="0" marL="0">
              <a:buNone/>
            </a:pPr>
            <a:r>
              <a:rPr lang="en-US" sz="1200" b="1" dirty="0">
                <a:solidFill>
                  <a:schemeClr val="accent4"/>
                </a:solidFill>
              </a:rPr>
              <a:t>FIRST ACTION</a:t>
            </a:r>
            <a:endParaRPr lang="en-US" sz="1200" dirty="0"/>
          </a:p>
        </p:txBody>
      </p:sp>
      <p:sp>
        <p:nvSpPr>
          <p:cNvPr id="9" name="Takeaway 3"/>
          <p:cNvSpPr txBox="1"/>
          <p:nvPr/>
        </p:nvSpPr>
        <p:spPr>
          <a:xfrm>
            <a:off x="640080" y="5715000"/>
            <a:ext cx="6949440" cy="777240"/>
          </a:xfrm>
          <a:prstGeom prst="rect">
            <a:avLst/>
          </a:prstGeom>
          <a:noFill/>
          <a:ln/>
        </p:spPr>
        <p:txBody>
          <a:bodyPr wrap="square" lIns="0" tIns="0" rIns="0" bIns="0" rtlCol="0" anchor="t"/>
          <a:lstStyle/>
          <a:p>
            <a:pPr indent="0" marL="0">
              <a:buNone/>
            </a:pPr>
            <a:r>
              <a:rPr lang="en-US" sz="1600" dirty="0">
                <a:solidFill>
                  <a:schemeClr val="bg1"/>
                </a:solidFill>
              </a:rPr>
              <a:t>Thu 10/8: get the deal desk position on payment terms, then hold the call with Raquel and Ian by Fri 10/9.</a:t>
            </a:r>
            <a:endParaRPr lang="en-US" sz="1600" dirty="0"/>
          </a:p>
        </p:txBody>
      </p:sp>
      <p:sp>
        <p:nvSpPr>
          <p:cNvPr id="10" name="Verdict panel"/>
          <p:cNvSpPr/>
          <p:nvPr/>
        </p:nvSpPr>
        <p:spPr>
          <a:xfrm>
            <a:off x="8138160" y="640080"/>
            <a:ext cx="3429000" cy="5577840"/>
          </a:xfrm>
          <a:prstGeom prst="roundRect">
            <a:avLst>
              <a:gd name="adj" fmla="val 2133"/>
            </a:avLst>
          </a:prstGeom>
          <a:solidFill>
            <a:schemeClr val="bg1"/>
          </a:solidFill>
          <a:ln w="12700">
            <a:solidFill>
              <a:schemeClr val="bg1"/>
            </a:solidFill>
            <a:prstDash val="solid"/>
          </a:ln>
        </p:spPr>
      </p:sp>
      <p:sp>
        <p:nvSpPr>
          <p:cNvPr id="11" name="Text 9"/>
          <p:cNvSpPr txBox="1"/>
          <p:nvPr/>
        </p:nvSpPr>
        <p:spPr>
          <a:xfrm>
            <a:off x="8412480" y="868680"/>
            <a:ext cx="2926080" cy="274320"/>
          </a:xfrm>
          <a:prstGeom prst="rect">
            <a:avLst/>
          </a:prstGeom>
          <a:noFill/>
          <a:ln/>
        </p:spPr>
        <p:txBody>
          <a:bodyPr wrap="square" lIns="0" tIns="0" rIns="0" bIns="0" rtlCol="0" anchor="ctr"/>
          <a:lstStyle/>
          <a:p>
            <a:pPr indent="0" marL="0">
              <a:buNone/>
            </a:pPr>
            <a:r>
              <a:rPr lang="en-US" sz="1200" dirty="0">
                <a:solidFill>
                  <a:schemeClr val="accent6"/>
                </a:solidFill>
              </a:rPr>
              <a:t>Overall read</a:t>
            </a:r>
            <a:endParaRPr lang="en-US" sz="1200" dirty="0"/>
          </a:p>
        </p:txBody>
      </p:sp>
      <p:sp>
        <p:nvSpPr>
          <p:cNvPr id="12" name="Verdict"/>
          <p:cNvSpPr txBox="1"/>
          <p:nvPr/>
        </p:nvSpPr>
        <p:spPr>
          <a:xfrm>
            <a:off x="8412480" y="1143000"/>
            <a:ext cx="2926080" cy="731520"/>
          </a:xfrm>
          <a:prstGeom prst="rect">
            <a:avLst/>
          </a:prstGeom>
          <a:noFill/>
          <a:ln/>
        </p:spPr>
        <p:txBody>
          <a:bodyPr wrap="square" lIns="0" tIns="0" rIns="0" bIns="0" rtlCol="0" anchor="ctr"/>
          <a:lstStyle/>
          <a:p>
            <a:pPr indent="0" marL="0">
              <a:buNone/>
            </a:pPr>
            <a:r>
              <a:rPr lang="en-US" sz="4400" b="1" dirty="0">
                <a:solidFill>
                  <a:schemeClr val="accent3"/>
                </a:solidFill>
              </a:rPr>
              <a:t>Strong</a:t>
            </a:r>
            <a:endParaRPr lang="en-US" sz="4400" dirty="0"/>
          </a:p>
        </p:txBody>
      </p:sp>
      <p:sp>
        <p:nvSpPr>
          <p:cNvPr id="13" name="Fact value 1"/>
          <p:cNvSpPr txBox="1"/>
          <p:nvPr/>
        </p:nvSpPr>
        <p:spPr>
          <a:xfrm>
            <a:off x="8412480" y="2103120"/>
            <a:ext cx="2926080" cy="365760"/>
          </a:xfrm>
          <a:prstGeom prst="rect">
            <a:avLst/>
          </a:prstGeom>
          <a:noFill/>
          <a:ln/>
        </p:spPr>
        <p:txBody>
          <a:bodyPr wrap="square" lIns="0" tIns="0" rIns="0" bIns="0" rtlCol="0" anchor="ctr"/>
          <a:lstStyle/>
          <a:p>
            <a:pPr indent="0" marL="0">
              <a:buNone/>
            </a:pPr>
            <a:r>
              <a:rPr lang="en-US" sz="2000" b="1" dirty="0">
                <a:solidFill>
                  <a:schemeClr val="tx2"/>
                </a:solidFill>
              </a:rPr>
              <a:t>16 days</a:t>
            </a:r>
            <a:endParaRPr lang="en-US" sz="2000" dirty="0"/>
          </a:p>
        </p:txBody>
      </p:sp>
      <p:sp>
        <p:nvSpPr>
          <p:cNvPr id="14" name="Fact label 1"/>
          <p:cNvSpPr txBox="1"/>
          <p:nvPr/>
        </p:nvSpPr>
        <p:spPr>
          <a:xfrm>
            <a:off x="8412480" y="2468880"/>
            <a:ext cx="2926080" cy="320040"/>
          </a:xfrm>
          <a:prstGeom prst="rect">
            <a:avLst/>
          </a:prstGeom>
          <a:noFill/>
          <a:ln/>
        </p:spPr>
        <p:txBody>
          <a:bodyPr wrap="square" lIns="0" tIns="0" rIns="0" bIns="0" rtlCol="0" anchor="t"/>
          <a:lstStyle/>
          <a:p>
            <a:pPr indent="0" marL="0">
              <a:buNone/>
            </a:pPr>
            <a:r>
              <a:rPr lang="en-US" sz="1200" dirty="0">
                <a:solidFill>
                  <a:schemeClr val="tx1"/>
                </a:solidFill>
              </a:rPr>
              <a:t>to Close Date, Fri 10/23</a:t>
            </a:r>
            <a:endParaRPr lang="en-US" sz="1200" dirty="0"/>
          </a:p>
        </p:txBody>
      </p:sp>
      <p:sp>
        <p:nvSpPr>
          <p:cNvPr id="15" name="Fact value 2"/>
          <p:cNvSpPr txBox="1"/>
          <p:nvPr/>
        </p:nvSpPr>
        <p:spPr>
          <a:xfrm>
            <a:off x="8412480" y="3127248"/>
            <a:ext cx="2926080" cy="365760"/>
          </a:xfrm>
          <a:prstGeom prst="rect">
            <a:avLst/>
          </a:prstGeom>
          <a:noFill/>
          <a:ln/>
        </p:spPr>
        <p:txBody>
          <a:bodyPr wrap="square" lIns="0" tIns="0" rIns="0" bIns="0" rtlCol="0" anchor="ctr"/>
          <a:lstStyle/>
          <a:p>
            <a:pPr indent="0" marL="0">
              <a:buNone/>
            </a:pPr>
            <a:r>
              <a:rPr lang="en-US" sz="2000" b="1" dirty="0">
                <a:solidFill>
                  <a:schemeClr val="tx2"/>
                </a:solidFill>
              </a:rPr>
              <a:t>$60,000</a:t>
            </a:r>
            <a:endParaRPr lang="en-US" sz="2000" dirty="0"/>
          </a:p>
        </p:txBody>
      </p:sp>
      <p:sp>
        <p:nvSpPr>
          <p:cNvPr id="16" name="Fact label 2"/>
          <p:cNvSpPr txBox="1"/>
          <p:nvPr/>
        </p:nvSpPr>
        <p:spPr>
          <a:xfrm>
            <a:off x="8412480" y="3493008"/>
            <a:ext cx="2926080" cy="320040"/>
          </a:xfrm>
          <a:prstGeom prst="rect">
            <a:avLst/>
          </a:prstGeom>
          <a:noFill/>
          <a:ln/>
        </p:spPr>
        <p:txBody>
          <a:bodyPr wrap="square" lIns="0" tIns="0" rIns="0" bIns="0" rtlCol="0" anchor="t"/>
          <a:lstStyle/>
          <a:p>
            <a:pPr indent="0" marL="0">
              <a:buNone/>
            </a:pPr>
            <a:r>
              <a:rPr lang="en-US" sz="1200" dirty="0">
                <a:solidFill>
                  <a:schemeClr val="tx1"/>
                </a:solidFill>
              </a:rPr>
              <a:t>annual, 12-month term</a:t>
            </a:r>
            <a:endParaRPr lang="en-US" sz="1200" dirty="0"/>
          </a:p>
        </p:txBody>
      </p:sp>
      <p:sp>
        <p:nvSpPr>
          <p:cNvPr id="17" name="Fact value 3"/>
          <p:cNvSpPr txBox="1"/>
          <p:nvPr/>
        </p:nvSpPr>
        <p:spPr>
          <a:xfrm>
            <a:off x="8412480" y="4041648"/>
            <a:ext cx="2926080" cy="365760"/>
          </a:xfrm>
          <a:prstGeom prst="rect">
            <a:avLst/>
          </a:prstGeom>
          <a:noFill/>
          <a:ln/>
        </p:spPr>
        <p:txBody>
          <a:bodyPr wrap="square" lIns="0" tIns="0" rIns="0" bIns="0" rtlCol="0" anchor="ctr"/>
          <a:lstStyle/>
          <a:p>
            <a:pPr indent="0" marL="0">
              <a:buNone/>
            </a:pPr>
            <a:r>
              <a:rPr lang="en-US" sz="2000" b="1" dirty="0">
                <a:solidFill>
                  <a:schemeClr val="tx2"/>
                </a:solidFill>
              </a:rPr>
              <a:t>Commit</a:t>
            </a:r>
            <a:endParaRPr lang="en-US" sz="2000" dirty="0"/>
          </a:p>
        </p:txBody>
      </p:sp>
      <p:sp>
        <p:nvSpPr>
          <p:cNvPr id="18" name="Fact label 3"/>
          <p:cNvSpPr txBox="1"/>
          <p:nvPr/>
        </p:nvSpPr>
        <p:spPr>
          <a:xfrm>
            <a:off x="8412480" y="4407408"/>
            <a:ext cx="2926080" cy="640080"/>
          </a:xfrm>
          <a:prstGeom prst="rect">
            <a:avLst/>
          </a:prstGeom>
          <a:noFill/>
          <a:ln/>
        </p:spPr>
        <p:txBody>
          <a:bodyPr wrap="square" lIns="0" tIns="0" rIns="0" bIns="0" rtlCol="0" anchor="t"/>
          <a:lstStyle/>
          <a:p>
            <a:pPr indent="0" marL="0">
              <a:buNone/>
            </a:pPr>
            <a:r>
              <a:rPr lang="en-US" sz="1200" dirty="0">
                <a:solidFill>
                  <a:schemeClr val="tx1"/>
                </a:solidFill>
              </a:rPr>
              <a:t>Forecast Category in the CRM; recommended category is Commit, confidence Medium</a:t>
            </a:r>
            <a:endParaRPr lang="en-US" sz="1200" dirty="0"/>
          </a:p>
        </p:txBody>
      </p:sp>
      <p:sp>
        <p:nvSpPr>
          <p:cNvPr id="19" name="Fact value 4"/>
          <p:cNvSpPr txBox="1"/>
          <p:nvPr/>
        </p:nvSpPr>
        <p:spPr>
          <a:xfrm>
            <a:off x="8412480" y="5065776"/>
            <a:ext cx="2926080" cy="365760"/>
          </a:xfrm>
          <a:prstGeom prst="rect">
            <a:avLst/>
          </a:prstGeom>
          <a:noFill/>
          <a:ln/>
        </p:spPr>
        <p:txBody>
          <a:bodyPr wrap="square" lIns="0" tIns="0" rIns="0" bIns="0" rtlCol="0" anchor="ctr"/>
          <a:lstStyle/>
          <a:p>
            <a:pPr indent="0" marL="0">
              <a:buNone/>
            </a:pPr>
            <a:r>
              <a:rPr lang="en-US" sz="2000" b="1" dirty="0">
                <a:solidFill>
                  <a:schemeClr val="tx2"/>
                </a:solidFill>
              </a:rPr>
              <a:t>Contract Sent</a:t>
            </a:r>
            <a:endParaRPr lang="en-US" sz="2000" dirty="0"/>
          </a:p>
        </p:txBody>
      </p:sp>
      <p:sp>
        <p:nvSpPr>
          <p:cNvPr id="20" name="Fact label 4"/>
          <p:cNvSpPr txBox="1"/>
          <p:nvPr/>
        </p:nvSpPr>
        <p:spPr>
          <a:xfrm>
            <a:off x="8412480" y="5431536"/>
            <a:ext cx="2926080" cy="320040"/>
          </a:xfrm>
          <a:prstGeom prst="rect">
            <a:avLst/>
          </a:prstGeom>
          <a:noFill/>
          <a:ln/>
        </p:spPr>
        <p:txBody>
          <a:bodyPr wrap="square" lIns="0" tIns="0" rIns="0" bIns="0" rtlCol="0" anchor="t"/>
          <a:lstStyle/>
          <a:p>
            <a:pPr indent="0" marL="0">
              <a:buNone/>
            </a:pPr>
            <a:r>
              <a:rPr lang="en-US" sz="1200" dirty="0">
                <a:solidFill>
                  <a:schemeClr val="tx1"/>
                </a:solidFill>
              </a:rPr>
              <a:t>Deal Stage since 9/24</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000" b="1" dirty="0">
                <a:solidFill>
                  <a:schemeClr val="tx1"/>
                </a:solidFill>
              </a:rPr>
              <a:t>Deal snapshot: Contract Sent, 16 days to Close Date</a:t>
            </a:r>
            <a:endParaRPr lang="en-US" sz="3000" dirty="0"/>
          </a:p>
        </p:txBody>
      </p:sp>
      <p:sp>
        <p:nvSpPr>
          <p:cNvPr id="3" name="Stat card 1"/>
          <p:cNvSpPr/>
          <p:nvPr/>
        </p:nvSpPr>
        <p:spPr>
          <a:xfrm>
            <a:off x="548640" y="1234440"/>
            <a:ext cx="2606040" cy="1325880"/>
          </a:xfrm>
          <a:prstGeom prst="roundRect">
            <a:avLst>
              <a:gd name="adj" fmla="val 5517"/>
            </a:avLst>
          </a:prstGeom>
          <a:solidFill>
            <a:schemeClr val="bg2"/>
          </a:solidFill>
          <a:ln w="12700">
            <a:solidFill>
              <a:schemeClr val="bg2"/>
            </a:solidFill>
            <a:prstDash val="solid"/>
          </a:ln>
        </p:spPr>
      </p:sp>
      <p:sp>
        <p:nvSpPr>
          <p:cNvPr id="4" name="Text 2"/>
          <p:cNvSpPr txBox="1"/>
          <p:nvPr/>
        </p:nvSpPr>
        <p:spPr>
          <a:xfrm>
            <a:off x="731520" y="1325880"/>
            <a:ext cx="2240280" cy="502920"/>
          </a:xfrm>
          <a:prstGeom prst="rect">
            <a:avLst/>
          </a:prstGeom>
          <a:noFill/>
          <a:ln/>
        </p:spPr>
        <p:txBody>
          <a:bodyPr wrap="square" lIns="0" tIns="0" rIns="0" bIns="0" rtlCol="0" anchor="ctr"/>
          <a:lstStyle/>
          <a:p>
            <a:pPr indent="0" marL="0">
              <a:buNone/>
            </a:pPr>
            <a:r>
              <a:rPr lang="en-US" sz="3000" b="1" dirty="0">
                <a:solidFill>
                  <a:schemeClr val="tx2"/>
                </a:solidFill>
              </a:rPr>
              <a:t>$60,000</a:t>
            </a:r>
            <a:endParaRPr lang="en-US" sz="3000" dirty="0"/>
          </a:p>
        </p:txBody>
      </p:sp>
      <p:sp>
        <p:nvSpPr>
          <p:cNvPr id="5" name="Text 3"/>
          <p:cNvSpPr txBox="1"/>
          <p:nvPr/>
        </p:nvSpPr>
        <p:spPr>
          <a:xfrm>
            <a:off x="731520" y="1874520"/>
            <a:ext cx="2240280" cy="594360"/>
          </a:xfrm>
          <a:prstGeom prst="rect">
            <a:avLst/>
          </a:prstGeom>
          <a:noFill/>
          <a:ln/>
        </p:spPr>
        <p:txBody>
          <a:bodyPr wrap="square" lIns="0" tIns="0" rIns="0" bIns="0" rtlCol="0" anchor="t"/>
          <a:lstStyle/>
          <a:p>
            <a:pPr indent="0" marL="0">
              <a:buNone/>
            </a:pPr>
            <a:r>
              <a:rPr lang="en-US" sz="1200" dirty="0">
                <a:solidFill>
                  <a:schemeClr val="tx1"/>
                </a:solidFill>
              </a:rPr>
              <a:t>Amount, annual, 12-month term. List $68,182 less 12 percent</a:t>
            </a:r>
            <a:endParaRPr lang="en-US" sz="1200" dirty="0"/>
          </a:p>
        </p:txBody>
      </p:sp>
      <p:sp>
        <p:nvSpPr>
          <p:cNvPr id="6" name="Stat card 2"/>
          <p:cNvSpPr/>
          <p:nvPr/>
        </p:nvSpPr>
        <p:spPr>
          <a:xfrm>
            <a:off x="3368040" y="1234440"/>
            <a:ext cx="2606040" cy="1325880"/>
          </a:xfrm>
          <a:prstGeom prst="roundRect">
            <a:avLst>
              <a:gd name="adj" fmla="val 5517"/>
            </a:avLst>
          </a:prstGeom>
          <a:solidFill>
            <a:schemeClr val="bg2"/>
          </a:solidFill>
          <a:ln w="12700">
            <a:solidFill>
              <a:schemeClr val="bg2"/>
            </a:solidFill>
            <a:prstDash val="solid"/>
          </a:ln>
        </p:spPr>
      </p:sp>
      <p:sp>
        <p:nvSpPr>
          <p:cNvPr id="7" name="Text 5"/>
          <p:cNvSpPr txBox="1"/>
          <p:nvPr/>
        </p:nvSpPr>
        <p:spPr>
          <a:xfrm>
            <a:off x="3550920" y="1325880"/>
            <a:ext cx="2240280" cy="502920"/>
          </a:xfrm>
          <a:prstGeom prst="rect">
            <a:avLst/>
          </a:prstGeom>
          <a:noFill/>
          <a:ln/>
        </p:spPr>
        <p:txBody>
          <a:bodyPr wrap="square" lIns="0" tIns="0" rIns="0" bIns="0" rtlCol="0" anchor="ctr"/>
          <a:lstStyle/>
          <a:p>
            <a:pPr indent="0" marL="0">
              <a:buNone/>
            </a:pPr>
            <a:r>
              <a:rPr lang="en-US" sz="3000" b="1" dirty="0">
                <a:solidFill>
                  <a:schemeClr val="tx2"/>
                </a:solidFill>
              </a:rPr>
              <a:t>16 days</a:t>
            </a:r>
            <a:endParaRPr lang="en-US" sz="3000" dirty="0"/>
          </a:p>
        </p:txBody>
      </p:sp>
      <p:sp>
        <p:nvSpPr>
          <p:cNvPr id="8" name="Text 6"/>
          <p:cNvSpPr txBox="1"/>
          <p:nvPr/>
        </p:nvSpPr>
        <p:spPr>
          <a:xfrm>
            <a:off x="3550920" y="1874520"/>
            <a:ext cx="2240280" cy="594360"/>
          </a:xfrm>
          <a:prstGeom prst="rect">
            <a:avLst/>
          </a:prstGeom>
          <a:noFill/>
          <a:ln/>
        </p:spPr>
        <p:txBody>
          <a:bodyPr wrap="square" lIns="0" tIns="0" rIns="0" bIns="0" rtlCol="0" anchor="t"/>
          <a:lstStyle/>
          <a:p>
            <a:pPr indent="0" marL="0">
              <a:buNone/>
            </a:pPr>
            <a:r>
              <a:rPr lang="en-US" sz="1200" dirty="0">
                <a:solidFill>
                  <a:schemeClr val="tx1"/>
                </a:solidFill>
              </a:rPr>
              <a:t>to Close Date, Fri 10/23. Set 7/8, never moved</a:t>
            </a:r>
            <a:endParaRPr lang="en-US" sz="1200" dirty="0"/>
          </a:p>
        </p:txBody>
      </p:sp>
      <p:sp>
        <p:nvSpPr>
          <p:cNvPr id="9" name="Stat card 3"/>
          <p:cNvSpPr/>
          <p:nvPr/>
        </p:nvSpPr>
        <p:spPr>
          <a:xfrm>
            <a:off x="6187440" y="1234440"/>
            <a:ext cx="2606040" cy="1325880"/>
          </a:xfrm>
          <a:prstGeom prst="roundRect">
            <a:avLst>
              <a:gd name="adj" fmla="val 5517"/>
            </a:avLst>
          </a:prstGeom>
          <a:solidFill>
            <a:schemeClr val="bg2"/>
          </a:solidFill>
          <a:ln w="12700">
            <a:solidFill>
              <a:schemeClr val="bg2"/>
            </a:solidFill>
            <a:prstDash val="solid"/>
          </a:ln>
        </p:spPr>
      </p:sp>
      <p:sp>
        <p:nvSpPr>
          <p:cNvPr id="10" name="Text 8"/>
          <p:cNvSpPr txBox="1"/>
          <p:nvPr/>
        </p:nvSpPr>
        <p:spPr>
          <a:xfrm>
            <a:off x="6370320" y="1325880"/>
            <a:ext cx="2240280" cy="502920"/>
          </a:xfrm>
          <a:prstGeom prst="rect">
            <a:avLst/>
          </a:prstGeom>
          <a:noFill/>
          <a:ln/>
        </p:spPr>
        <p:txBody>
          <a:bodyPr wrap="square" lIns="0" tIns="0" rIns="0" bIns="0" rtlCol="0" anchor="ctr"/>
          <a:lstStyle/>
          <a:p>
            <a:pPr indent="0" marL="0">
              <a:buNone/>
            </a:pPr>
            <a:r>
              <a:rPr lang="en-US" sz="2400" b="1" dirty="0">
                <a:solidFill>
                  <a:schemeClr val="tx2"/>
                </a:solidFill>
              </a:rPr>
              <a:t>Contract Sent</a:t>
            </a:r>
            <a:endParaRPr lang="en-US" sz="2400" dirty="0"/>
          </a:p>
        </p:txBody>
      </p:sp>
      <p:sp>
        <p:nvSpPr>
          <p:cNvPr id="11" name="Text 9"/>
          <p:cNvSpPr txBox="1"/>
          <p:nvPr/>
        </p:nvSpPr>
        <p:spPr>
          <a:xfrm>
            <a:off x="6370320" y="1874520"/>
            <a:ext cx="2240280" cy="594360"/>
          </a:xfrm>
          <a:prstGeom prst="rect">
            <a:avLst/>
          </a:prstGeom>
          <a:noFill/>
          <a:ln/>
        </p:spPr>
        <p:txBody>
          <a:bodyPr wrap="square" lIns="0" tIns="0" rIns="0" bIns="0" rtlCol="0" anchor="t"/>
          <a:lstStyle/>
          <a:p>
            <a:pPr indent="0" marL="0">
              <a:buNone/>
            </a:pPr>
            <a:r>
              <a:rPr lang="en-US" sz="1200" dirty="0">
                <a:solidFill>
                  <a:schemeClr val="tx1"/>
                </a:solidFill>
              </a:rPr>
              <a:t>Deal Stage, entered 9/24</a:t>
            </a:r>
            <a:endParaRPr lang="en-US" sz="1200" dirty="0"/>
          </a:p>
        </p:txBody>
      </p:sp>
      <p:sp>
        <p:nvSpPr>
          <p:cNvPr id="12" name="Stat card 4"/>
          <p:cNvSpPr/>
          <p:nvPr/>
        </p:nvSpPr>
        <p:spPr>
          <a:xfrm>
            <a:off x="9006840" y="1234440"/>
            <a:ext cx="2606040" cy="1325880"/>
          </a:xfrm>
          <a:prstGeom prst="roundRect">
            <a:avLst>
              <a:gd name="adj" fmla="val 5517"/>
            </a:avLst>
          </a:prstGeom>
          <a:solidFill>
            <a:schemeClr val="bg2"/>
          </a:solidFill>
          <a:ln w="12700">
            <a:solidFill>
              <a:schemeClr val="bg2"/>
            </a:solidFill>
            <a:prstDash val="solid"/>
          </a:ln>
        </p:spPr>
      </p:sp>
      <p:sp>
        <p:nvSpPr>
          <p:cNvPr id="13" name="Text 11"/>
          <p:cNvSpPr txBox="1"/>
          <p:nvPr/>
        </p:nvSpPr>
        <p:spPr>
          <a:xfrm>
            <a:off x="9189720" y="1325880"/>
            <a:ext cx="2240280" cy="502920"/>
          </a:xfrm>
          <a:prstGeom prst="rect">
            <a:avLst/>
          </a:prstGeom>
          <a:noFill/>
          <a:ln/>
        </p:spPr>
        <p:txBody>
          <a:bodyPr wrap="square" lIns="0" tIns="0" rIns="0" bIns="0" rtlCol="0" anchor="ctr"/>
          <a:lstStyle/>
          <a:p>
            <a:pPr indent="0" marL="0">
              <a:buNone/>
            </a:pPr>
            <a:r>
              <a:rPr lang="en-US" sz="3000" b="1" dirty="0">
                <a:solidFill>
                  <a:schemeClr val="tx2"/>
                </a:solidFill>
              </a:rPr>
              <a:t>Commit</a:t>
            </a:r>
            <a:endParaRPr lang="en-US" sz="3000" dirty="0"/>
          </a:p>
        </p:txBody>
      </p:sp>
      <p:sp>
        <p:nvSpPr>
          <p:cNvPr id="14" name="Text 12"/>
          <p:cNvSpPr txBox="1"/>
          <p:nvPr/>
        </p:nvSpPr>
        <p:spPr>
          <a:xfrm>
            <a:off x="9189720" y="1874520"/>
            <a:ext cx="2240280" cy="594360"/>
          </a:xfrm>
          <a:prstGeom prst="rect">
            <a:avLst/>
          </a:prstGeom>
          <a:noFill/>
          <a:ln/>
        </p:spPr>
        <p:txBody>
          <a:bodyPr wrap="square" lIns="0" tIns="0" rIns="0" bIns="0" rtlCol="0" anchor="t"/>
          <a:lstStyle/>
          <a:p>
            <a:pPr indent="0" marL="0">
              <a:buNone/>
            </a:pPr>
            <a:r>
              <a:rPr lang="en-US" sz="1200" dirty="0">
                <a:solidFill>
                  <a:schemeClr val="tx1"/>
                </a:solidFill>
              </a:rPr>
              <a:t>Forecast Category, CRM fact since 9/22</a:t>
            </a:r>
            <a:endParaRPr lang="en-US" sz="1200" dirty="0"/>
          </a:p>
        </p:txBody>
      </p:sp>
      <p:sp>
        <p:nvSpPr>
          <p:cNvPr id="15" name="Stage pill 1"/>
          <p:cNvSpPr/>
          <p:nvPr/>
        </p:nvSpPr>
        <p:spPr>
          <a:xfrm>
            <a:off x="548640" y="2743200"/>
            <a:ext cx="2606040" cy="548640"/>
          </a:xfrm>
          <a:prstGeom prst="roundRect">
            <a:avLst>
              <a:gd name="adj" fmla="val 50000"/>
            </a:avLst>
          </a:prstGeom>
          <a:solidFill>
            <a:schemeClr val="accent1"/>
          </a:solidFill>
          <a:ln w="12700">
            <a:solidFill>
              <a:schemeClr val="accent1"/>
            </a:solidFill>
            <a:prstDash val="solid"/>
          </a:ln>
        </p:spPr>
      </p:sp>
      <p:sp>
        <p:nvSpPr>
          <p:cNvPr id="16" name="Text 14"/>
          <p:cNvSpPr txBox="1"/>
          <p:nvPr/>
        </p:nvSpPr>
        <p:spPr>
          <a:xfrm>
            <a:off x="548640" y="2743200"/>
            <a:ext cx="2606040" cy="548640"/>
          </a:xfrm>
          <a:prstGeom prst="rect">
            <a:avLst/>
          </a:prstGeom>
          <a:noFill/>
          <a:ln/>
        </p:spPr>
        <p:txBody>
          <a:bodyPr wrap="square" lIns="0" tIns="0" rIns="0" bIns="0" rtlCol="0" anchor="ctr"/>
          <a:lstStyle/>
          <a:p>
            <a:pPr algn="ctr" indent="0" marL="0">
              <a:buNone/>
            </a:pPr>
            <a:r>
              <a:rPr lang="en-US" sz="1200" b="1" dirty="0">
                <a:solidFill>
                  <a:schemeClr val="bg1"/>
                </a:solidFill>
              </a:rPr>
              <a:t>Discovery  |  entered 7/8</a:t>
            </a:r>
            <a:endParaRPr lang="en-US" sz="1200" dirty="0"/>
          </a:p>
        </p:txBody>
      </p:sp>
      <p:sp>
        <p:nvSpPr>
          <p:cNvPr id="17" name="Stage pill 2"/>
          <p:cNvSpPr/>
          <p:nvPr/>
        </p:nvSpPr>
        <p:spPr>
          <a:xfrm>
            <a:off x="3368040" y="2743200"/>
            <a:ext cx="2606040" cy="548640"/>
          </a:xfrm>
          <a:prstGeom prst="roundRect">
            <a:avLst>
              <a:gd name="adj" fmla="val 50000"/>
            </a:avLst>
          </a:prstGeom>
          <a:solidFill>
            <a:schemeClr val="accent1"/>
          </a:solidFill>
          <a:ln w="12700">
            <a:solidFill>
              <a:schemeClr val="accent1"/>
            </a:solidFill>
            <a:prstDash val="solid"/>
          </a:ln>
        </p:spPr>
      </p:sp>
      <p:sp>
        <p:nvSpPr>
          <p:cNvPr id="18" name="Text 16"/>
          <p:cNvSpPr txBox="1"/>
          <p:nvPr/>
        </p:nvSpPr>
        <p:spPr>
          <a:xfrm>
            <a:off x="3368040" y="2743200"/>
            <a:ext cx="2606040" cy="548640"/>
          </a:xfrm>
          <a:prstGeom prst="rect">
            <a:avLst/>
          </a:prstGeom>
          <a:noFill/>
          <a:ln/>
        </p:spPr>
        <p:txBody>
          <a:bodyPr wrap="square" lIns="0" tIns="0" rIns="0" bIns="0" rtlCol="0" anchor="ctr"/>
          <a:lstStyle/>
          <a:p>
            <a:pPr algn="ctr" indent="0" marL="0">
              <a:buNone/>
            </a:pPr>
            <a:r>
              <a:rPr lang="en-US" sz="1200" b="1" dirty="0">
                <a:solidFill>
                  <a:schemeClr val="bg1"/>
                </a:solidFill>
              </a:rPr>
              <a:t>Evaluation  |  entered 7/16</a:t>
            </a:r>
            <a:endParaRPr lang="en-US" sz="1200" dirty="0"/>
          </a:p>
        </p:txBody>
      </p:sp>
      <p:sp>
        <p:nvSpPr>
          <p:cNvPr id="19" name="Stage pill 3"/>
          <p:cNvSpPr/>
          <p:nvPr/>
        </p:nvSpPr>
        <p:spPr>
          <a:xfrm>
            <a:off x="6187440" y="2743200"/>
            <a:ext cx="2606040" cy="548640"/>
          </a:xfrm>
          <a:prstGeom prst="roundRect">
            <a:avLst>
              <a:gd name="adj" fmla="val 50000"/>
            </a:avLst>
          </a:prstGeom>
          <a:solidFill>
            <a:schemeClr val="accent1"/>
          </a:solidFill>
          <a:ln w="12700">
            <a:solidFill>
              <a:schemeClr val="accent1"/>
            </a:solidFill>
            <a:prstDash val="solid"/>
          </a:ln>
        </p:spPr>
      </p:sp>
      <p:sp>
        <p:nvSpPr>
          <p:cNvPr id="20" name="Text 18"/>
          <p:cNvSpPr txBox="1"/>
          <p:nvPr/>
        </p:nvSpPr>
        <p:spPr>
          <a:xfrm>
            <a:off x="6187440" y="2743200"/>
            <a:ext cx="2606040" cy="548640"/>
          </a:xfrm>
          <a:prstGeom prst="rect">
            <a:avLst/>
          </a:prstGeom>
          <a:noFill/>
          <a:ln/>
        </p:spPr>
        <p:txBody>
          <a:bodyPr wrap="square" lIns="0" tIns="0" rIns="0" bIns="0" rtlCol="0" anchor="ctr"/>
          <a:lstStyle/>
          <a:p>
            <a:pPr algn="ctr" indent="0" marL="0">
              <a:buNone/>
            </a:pPr>
            <a:r>
              <a:rPr lang="en-US" sz="1200" b="1" dirty="0">
                <a:solidFill>
                  <a:schemeClr val="bg1"/>
                </a:solidFill>
              </a:rPr>
              <a:t>Proposal  |  entered 8/28</a:t>
            </a:r>
            <a:endParaRPr lang="en-US" sz="1200" dirty="0"/>
          </a:p>
        </p:txBody>
      </p:sp>
      <p:sp>
        <p:nvSpPr>
          <p:cNvPr id="21" name="Stage pill 4"/>
          <p:cNvSpPr/>
          <p:nvPr/>
        </p:nvSpPr>
        <p:spPr>
          <a:xfrm>
            <a:off x="9006840" y="2743200"/>
            <a:ext cx="2606040" cy="548640"/>
          </a:xfrm>
          <a:prstGeom prst="roundRect">
            <a:avLst>
              <a:gd name="adj" fmla="val 50000"/>
            </a:avLst>
          </a:prstGeom>
          <a:solidFill>
            <a:schemeClr val="accent2"/>
          </a:solidFill>
          <a:ln w="12700">
            <a:solidFill>
              <a:schemeClr val="accent2"/>
            </a:solidFill>
            <a:prstDash val="solid"/>
          </a:ln>
        </p:spPr>
      </p:sp>
      <p:sp>
        <p:nvSpPr>
          <p:cNvPr id="22" name="Text 20"/>
          <p:cNvSpPr txBox="1"/>
          <p:nvPr/>
        </p:nvSpPr>
        <p:spPr>
          <a:xfrm>
            <a:off x="9006840" y="2743200"/>
            <a:ext cx="2606040" cy="548640"/>
          </a:xfrm>
          <a:prstGeom prst="rect">
            <a:avLst/>
          </a:prstGeom>
          <a:noFill/>
          <a:ln/>
        </p:spPr>
        <p:txBody>
          <a:bodyPr wrap="square" lIns="0" tIns="0" rIns="0" bIns="0" rtlCol="0" anchor="ctr"/>
          <a:lstStyle/>
          <a:p>
            <a:pPr algn="ctr" indent="0" marL="0">
              <a:buNone/>
            </a:pPr>
            <a:r>
              <a:rPr lang="en-US" sz="1200" b="1" dirty="0">
                <a:solidFill>
                  <a:schemeClr val="bg1"/>
                </a:solidFill>
              </a:rPr>
              <a:t>Contract Sent  |  entered 9/24</a:t>
            </a:r>
            <a:endParaRPr lang="en-US" sz="1200" dirty="0"/>
          </a:p>
        </p:txBody>
      </p:sp>
      <p:sp>
        <p:nvSpPr>
          <p:cNvPr id="23" name="Text 21"/>
          <p:cNvSpPr txBox="1"/>
          <p:nvPr/>
        </p:nvSpPr>
        <p:spPr>
          <a:xfrm>
            <a:off x="548640" y="3520440"/>
            <a:ext cx="5394960" cy="320040"/>
          </a:xfrm>
          <a:prstGeom prst="rect">
            <a:avLst/>
          </a:prstGeom>
          <a:noFill/>
          <a:ln/>
        </p:spPr>
        <p:txBody>
          <a:bodyPr wrap="square" lIns="0" tIns="0" rIns="0" bIns="0" rtlCol="0" anchor="ctr"/>
          <a:lstStyle/>
          <a:p>
            <a:pPr indent="0" marL="0">
              <a:buNone/>
            </a:pPr>
            <a:r>
              <a:rPr lang="en-US" sz="1600" b="1" dirty="0">
                <a:solidFill>
                  <a:schemeClr val="tx2"/>
                </a:solidFill>
              </a:rPr>
              <a:t>Deal facts</a:t>
            </a:r>
            <a:endParaRPr lang="en-US" sz="1600" dirty="0"/>
          </a:p>
        </p:txBody>
      </p:sp>
      <p:sp>
        <p:nvSpPr>
          <p:cNvPr id="24" name="Deal facts"/>
          <p:cNvSpPr txBox="1"/>
          <p:nvPr/>
        </p:nvSpPr>
        <p:spPr>
          <a:xfrm>
            <a:off x="548640" y="3886200"/>
            <a:ext cx="5394960" cy="237744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chemeClr val="tx1"/>
                </a:solidFill>
              </a:rPr>
              <a:t>Owner Maya Patel. New Business. Created 7/8, day 91 today.</a:t>
            </a:r>
            <a:endParaRPr lang="en-US" sz="1200" dirty="0"/>
          </a:p>
          <a:p>
            <a:pPr marL="342900" indent="-342900">
              <a:spcAft>
                <a:spcPts val="500"/>
              </a:spcAft>
              <a:buSzPct val="100000"/>
              <a:buChar char="•"/>
            </a:pPr>
            <a:r>
              <a:rPr lang="en-US" sz="1200" dirty="0">
                <a:solidFill>
                  <a:schemeClr val="tx1"/>
                </a:solidFill>
              </a:rPr>
              <a:t>Competitor in the CRM: ClinicQ (out). Status quo is Tidewell at about $52,000 a year (Raquel, 9/10).</a:t>
            </a:r>
            <a:endParaRPr lang="en-US" sz="1200" dirty="0"/>
          </a:p>
          <a:p>
            <a:pPr marL="342900" indent="-342900">
              <a:spcAft>
                <a:spcPts val="500"/>
              </a:spcAft>
              <a:buSzPct val="100000"/>
              <a:buChar char="•"/>
            </a:pPr>
            <a:r>
              <a:rPr lang="en-US" sz="1200" dirty="0">
                <a:solidFill>
                  <a:schemeClr val="tx1"/>
                </a:solidFill>
              </a:rPr>
              <a:t>Scope is twelve locations: nine today plus three opening 12/1. About $5,000 per location.</a:t>
            </a:r>
            <a:endParaRPr lang="en-US" sz="1200" dirty="0"/>
          </a:p>
          <a:p>
            <a:pPr marL="342900" indent="-342900">
              <a:spcAft>
                <a:spcPts val="500"/>
              </a:spcAft>
              <a:buSzPct val="100000"/>
              <a:buChar char="•"/>
            </a:pPr>
            <a:r>
              <a:rPr lang="en-US" sz="1200" dirty="0">
                <a:solidFill>
                  <a:schemeClr val="tx1"/>
                </a:solidFill>
              </a:rPr>
              <a:t>Close Date has not changed since it was set on 7/8. Forecast Category: Pipeline, then Best Case (8/28), then Commit (9/22).</a:t>
            </a:r>
            <a:endParaRPr lang="en-US" sz="1200" dirty="0"/>
          </a:p>
          <a:p>
            <a:pPr marL="342900" indent="-342900">
              <a:spcAft>
                <a:spcPts val="500"/>
              </a:spcAft>
              <a:buSzPct val="100000"/>
              <a:buChar char="•"/>
            </a:pPr>
            <a:r>
              <a:rPr lang="en-US" sz="1200" dirty="0">
                <a:solidFill>
                  <a:schemeClr val="tx1"/>
                </a:solidFill>
              </a:rPr>
              <a:t>Next Activity Date is 10/10, a Saturday.</a:t>
            </a:r>
            <a:endParaRPr lang="en-US" sz="1200" dirty="0"/>
          </a:p>
        </p:txBody>
      </p:sp>
      <p:sp>
        <p:nvSpPr>
          <p:cNvPr id="25" name="Text 23"/>
          <p:cNvSpPr txBox="1"/>
          <p:nvPr/>
        </p:nvSpPr>
        <p:spPr>
          <a:xfrm>
            <a:off x="6217920" y="3520440"/>
            <a:ext cx="5394960" cy="320040"/>
          </a:xfrm>
          <a:prstGeom prst="rect">
            <a:avLst/>
          </a:prstGeom>
          <a:noFill/>
          <a:ln/>
        </p:spPr>
        <p:txBody>
          <a:bodyPr wrap="square" lIns="0" tIns="0" rIns="0" bIns="0" rtlCol="0" anchor="ctr"/>
          <a:lstStyle/>
          <a:p>
            <a:pPr indent="0" marL="0">
              <a:buNone/>
            </a:pPr>
            <a:r>
              <a:rPr lang="en-US" sz="1600" b="1" dirty="0">
                <a:solidFill>
                  <a:schemeClr val="tx2"/>
                </a:solidFill>
              </a:rPr>
              <a:t>What the buyer has said</a:t>
            </a:r>
            <a:endParaRPr lang="en-US" sz="1600" dirty="0"/>
          </a:p>
        </p:txBody>
      </p:sp>
      <p:sp>
        <p:nvSpPr>
          <p:cNvPr id="26" name="Buyer statements"/>
          <p:cNvSpPr txBox="1"/>
          <p:nvPr/>
        </p:nvSpPr>
        <p:spPr>
          <a:xfrm>
            <a:off x="6217920" y="3886200"/>
            <a:ext cx="5394960" cy="237744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chemeClr val="tx1"/>
                </a:solidFill>
              </a:rPr>
              <a:t>Timing (Raquel, 7/14): Tidewell ends 11/30 and is not being renewed. Three sites open 12/1.</a:t>
            </a:r>
            <a:endParaRPr lang="en-US" sz="1200" dirty="0"/>
          </a:p>
          <a:p>
            <a:pPr marL="342900" indent="-342900">
              <a:spcAft>
                <a:spcPts val="500"/>
              </a:spcAft>
              <a:buSzPct val="100000"/>
              <a:buChar char="•"/>
            </a:pPr>
            <a:r>
              <a:rPr lang="en-US" sz="1200" dirty="0">
                <a:solidFill>
                  <a:schemeClr val="tx1"/>
                </a:solidFill>
              </a:rPr>
              <a:t>Budget (Raquel, 8/27): "It's my budget," and anything over $50,000 goes past Ian, the CFO.</a:t>
            </a:r>
            <a:endParaRPr lang="en-US" sz="1200" dirty="0"/>
          </a:p>
          <a:p>
            <a:pPr marL="342900" indent="-342900">
              <a:spcAft>
                <a:spcPts val="500"/>
              </a:spcAft>
              <a:buSzPct val="100000"/>
              <a:buChar char="•"/>
            </a:pPr>
            <a:r>
              <a:rPr lang="en-US" sz="1200" dirty="0">
                <a:solidFill>
                  <a:schemeClr val="tx1"/>
                </a:solidFill>
              </a:rPr>
              <a:t>Process (Raquel, 7/14): Tom runs the evaluation, Dr. Cho for clinical, Nate for security.</a:t>
            </a:r>
            <a:endParaRPr lang="en-US" sz="1200" dirty="0"/>
          </a:p>
          <a:p>
            <a:pPr marL="342900" indent="-342900">
              <a:spcAft>
                <a:spcPts val="500"/>
              </a:spcAft>
              <a:buSzPct val="100000"/>
              <a:buChar char="•"/>
            </a:pPr>
            <a:r>
              <a:rPr lang="en-US" sz="1200" dirty="0">
                <a:solidFill>
                  <a:schemeClr val="tx1"/>
                </a:solidFill>
              </a:rPr>
              <a:t>Terms (Raquel, 9/29 email): payment terms changed to net 60. Contracting party is Bluebird Dental Holdings LLC.</a:t>
            </a:r>
            <a:endParaRPr lang="en-US" sz="1200" dirty="0"/>
          </a:p>
        </p:txBody>
      </p:sp>
      <p:sp>
        <p:nvSpPr>
          <p:cNvPr id="25" name="Slide Number Placeholder 0"/>
          <p:cNvSpPr>
            <a:spLocks noGrp="1"/>
          </p:cNvSpPr>
          <p:nvPr>
            <p:ph type="sldNum" sz="quarter" idx="4294967295"/>
          </p:nvPr>
        </p:nvSpPr>
        <p:spPr>
          <a:xfrm>
            <a:off x="11247120" y="6419088"/>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000" b="1" dirty="0">
                <a:solidFill>
                  <a:schemeClr val="tx1"/>
                </a:solidFill>
              </a:rPr>
              <a:t>Where we stand: the ten dimensions</a:t>
            </a:r>
            <a:endParaRPr lang="en-US" sz="3000" dirty="0"/>
          </a:p>
        </p:txBody>
      </p:sp>
      <p:graphicFrame>
        <p:nvGraphicFramePr>
          <p:cNvPr id="4" name="Dimension grid"/>
          <p:cNvGraphicFramePr>
            <a:graphicFrameLocks noGrp="1"/>
          </p:cNvGraphicFramePr>
          <p:nvPr>
            <p:extLst>
              <p:ext uri="{D42A27DB-BD31-4B8C-83A1-F6EECF244321}">
                <p14:modId xmlns:p14="http://schemas.microsoft.com/office/powerpoint/2010/main" val="1579011935"/>
              </p:ext>
            </p:extLst>
          </p:nvPr>
        </p:nvGraphicFramePr>
        <p:xfrm>
          <a:off x="548640" y="1188720"/>
          <a:ext cx="11064240" cy="914400"/>
        </p:xfrm>
        <a:graphic>
          <a:graphicData uri="http://schemas.openxmlformats.org/drawingml/2006/table">
            <a:tbl>
              <a:tblPr/>
              <a:tblGrid>
                <a:gridCol w="3017520"/>
                <a:gridCol w="1737360"/>
                <a:gridCol w="6309360"/>
              </a:tblGrid>
              <a:tr h="320040">
                <a:tc>
                  <a:txBody>
                    <a:bodyPr/>
                    <a:lstStyle/>
                    <a:p>
                      <a:pPr indent="0" marL="0">
                        <a:buNone/>
                      </a:pPr>
                      <a:r>
                        <a:rPr lang="en-US" sz="1100" b="1" dirty="0">
                          <a:solidFill>
                            <a:schemeClr val="bg1"/>
                          </a:solidFill>
                        </a:rPr>
                        <a:t>Dimension (CRM term)</a:t>
                      </a:r>
                      <a:endParaRPr lang="en-US" sz="1100" dirty="0"/>
                    </a:p>
                  </a:txBody>
                  <a:tcPr marL="73152" marR="73152" marT="27432" marB="27432"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chemeClr val="tx2"/>
                    </a:solidFill>
                  </a:tcPr>
                </a:tc>
                <a:tc>
                  <a:txBody>
                    <a:bodyPr/>
                    <a:lstStyle/>
                    <a:p>
                      <a:pPr indent="0" marL="0">
                        <a:buNone/>
                      </a:pPr>
                      <a:r>
                        <a:rPr lang="en-US" sz="1100" b="1" dirty="0">
                          <a:solidFill>
                            <a:schemeClr val="bg1"/>
                          </a:solidFill>
                        </a:rPr>
                        <a:t>Status</a:t>
                      </a:r>
                      <a:endParaRPr lang="en-US" sz="1100" dirty="0"/>
                    </a:p>
                  </a:txBody>
                  <a:tcPr marL="73152" marR="73152" marT="27432" marB="27432"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chemeClr val="tx2"/>
                    </a:solidFill>
                  </a:tcPr>
                </a:tc>
                <a:tc>
                  <a:txBody>
                    <a:bodyPr/>
                    <a:lstStyle/>
                    <a:p>
                      <a:pPr indent="0" marL="0">
                        <a:buNone/>
                      </a:pPr>
                      <a:r>
                        <a:rPr lang="en-US" sz="1100" b="1" dirty="0">
                          <a:solidFill>
                            <a:schemeClr val="bg1"/>
                          </a:solidFill>
                        </a:rPr>
                        <a:t>What the record says</a:t>
                      </a:r>
                      <a:endParaRPr lang="en-US" sz="1100" dirty="0"/>
                    </a:p>
                  </a:txBody>
                  <a:tcPr marL="73152" marR="73152" marT="27432" marB="27432"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chemeClr val="tx2"/>
                    </a:solidFill>
                  </a:tcPr>
                </a:tc>
              </a:tr>
              <a:tr h="457200">
                <a:tc>
                  <a:txBody>
                    <a:bodyPr/>
                    <a:lstStyle/>
                    <a:p>
                      <a:pPr indent="0" marL="0">
                        <a:buNone/>
                      </a:pPr>
                      <a:r>
                        <a:rPr lang="en-US" sz="1100" b="1" dirty="0">
                          <a:solidFill>
                            <a:schemeClr val="tx1"/>
                          </a:solidFill>
                        </a:rPr>
                        <a:t>Need (Identified Pain)</a:t>
                      </a:r>
                      <a:endParaRPr lang="en-US" sz="1100" dirty="0"/>
                    </a:p>
                  </a:txBody>
                  <a:tcPr marL="73152" marR="73152" marT="27432" marB="27432"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tcPr>
                </a:tc>
                <a:tc>
                  <a:txBody>
                    <a:bodyPr/>
                    <a:lstStyle/>
                    <a:p>
                      <a:pPr algn="ctr" indent="0" marL="0">
                        <a:buNone/>
                      </a:pPr>
                      <a:r>
                        <a:rPr lang="en-US" sz="1100" b="1" dirty="0">
                          <a:solidFill>
                            <a:schemeClr val="bg1"/>
                          </a:solidFill>
                        </a:rPr>
                        <a:t>Confirmed</a:t>
                      </a:r>
                      <a:endParaRPr lang="en-US" sz="1100" dirty="0"/>
                    </a:p>
                  </a:txBody>
                  <a:tcPr marL="73152" marR="73152" marT="27432" marB="27432"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chemeClr val="accent3"/>
                    </a:solidFill>
                  </a:tcPr>
                </a:tc>
                <a:tc>
                  <a:txBody>
                    <a:bodyPr/>
                    <a:lstStyle/>
                    <a:p>
                      <a:pPr indent="0" marL="0">
                        <a:buNone/>
                      </a:pPr>
                      <a:r>
                        <a:rPr lang="en-US" sz="1100" dirty="0">
                          <a:solidFill>
                            <a:schemeClr val="tx1"/>
                          </a:solidFill>
                        </a:rPr>
                        <a:t>Front desks double-book providers across nine sites; Tidewell cannot show other sites. Raquel 7/14.</a:t>
                      </a:r>
                      <a:endParaRPr lang="en-US" sz="1100" dirty="0"/>
                    </a:p>
                  </a:txBody>
                  <a:tcPr marL="73152" marR="73152" marT="27432" marB="27432"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tcPr>
                </a:tc>
              </a:tr>
              <a:tr h="457200">
                <a:tc>
                  <a:txBody>
                    <a:bodyPr/>
                    <a:lstStyle/>
                    <a:p>
                      <a:pPr indent="0" marL="0">
                        <a:buNone/>
                      </a:pPr>
                      <a:r>
                        <a:rPr lang="en-US" sz="1100" b="1" dirty="0">
                          <a:solidFill>
                            <a:schemeClr val="tx1"/>
                          </a:solidFill>
                        </a:rPr>
                        <a:t>Timing (compelling event)</a:t>
                      </a:r>
                      <a:endParaRPr lang="en-US" sz="1100" dirty="0"/>
                    </a:p>
                  </a:txBody>
                  <a:tcPr marL="73152" marR="73152" marT="27432" marB="27432"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tcPr>
                </a:tc>
                <a:tc>
                  <a:txBody>
                    <a:bodyPr/>
                    <a:lstStyle/>
                    <a:p>
                      <a:pPr algn="ctr" indent="0" marL="0">
                        <a:buNone/>
                      </a:pPr>
                      <a:r>
                        <a:rPr lang="en-US" sz="1100" b="1" dirty="0">
                          <a:solidFill>
                            <a:schemeClr val="bg1"/>
                          </a:solidFill>
                        </a:rPr>
                        <a:t>Confirmed</a:t>
                      </a:r>
                      <a:endParaRPr lang="en-US" sz="1100" dirty="0"/>
                    </a:p>
                  </a:txBody>
                  <a:tcPr marL="73152" marR="73152" marT="27432" marB="27432"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chemeClr val="accent3"/>
                    </a:solidFill>
                  </a:tcPr>
                </a:tc>
                <a:tc>
                  <a:txBody>
                    <a:bodyPr/>
                    <a:lstStyle/>
                    <a:p>
                      <a:pPr indent="0" marL="0">
                        <a:buNone/>
                      </a:pPr>
                      <a:r>
                        <a:rPr lang="en-US" sz="1100" dirty="0">
                          <a:solidFill>
                            <a:schemeClr val="tx1"/>
                          </a:solidFill>
                        </a:rPr>
                        <a:t>Tidewell ends 11/30, not renewing. Three sites open 12/1. Raquel 7/14.</a:t>
                      </a:r>
                      <a:endParaRPr lang="en-US" sz="1100" dirty="0"/>
                    </a:p>
                  </a:txBody>
                  <a:tcPr marL="73152" marR="73152" marT="27432" marB="27432"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tcPr>
                </a:tc>
              </a:tr>
              <a:tr h="457200">
                <a:tc>
                  <a:txBody>
                    <a:bodyPr/>
                    <a:lstStyle/>
                    <a:p>
                      <a:pPr indent="0" marL="0">
                        <a:buNone/>
                      </a:pPr>
                      <a:r>
                        <a:rPr lang="en-US" sz="1100" b="1" dirty="0">
                          <a:solidFill>
                            <a:schemeClr val="tx1"/>
                          </a:solidFill>
                        </a:rPr>
                        <a:t>Differentiation (Competition)</a:t>
                      </a:r>
                      <a:endParaRPr lang="en-US" sz="1100" dirty="0"/>
                    </a:p>
                  </a:txBody>
                  <a:tcPr marL="73152" marR="73152" marT="27432" marB="27432"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tcPr>
                </a:tc>
                <a:tc>
                  <a:txBody>
                    <a:bodyPr/>
                    <a:lstStyle/>
                    <a:p>
                      <a:pPr algn="ctr" indent="0" marL="0">
                        <a:buNone/>
                      </a:pPr>
                      <a:r>
                        <a:rPr lang="en-US" sz="1100" b="1" dirty="0">
                          <a:solidFill>
                            <a:schemeClr val="bg1"/>
                          </a:solidFill>
                        </a:rPr>
                        <a:t>Confirmed / Unknown</a:t>
                      </a:r>
                      <a:endParaRPr lang="en-US" sz="1100" dirty="0"/>
                    </a:p>
                  </a:txBody>
                  <a:tcPr marL="73152" marR="73152" marT="27432" marB="27432"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chemeClr val="accent6"/>
                    </a:solidFill>
                  </a:tcPr>
                </a:tc>
                <a:tc>
                  <a:txBody>
                    <a:bodyPr/>
                    <a:lstStyle/>
                    <a:p>
                      <a:pPr indent="0" marL="0">
                        <a:buNone/>
                      </a:pPr>
                      <a:r>
                        <a:rPr lang="en-US" sz="1100" dirty="0">
                          <a:solidFill>
                            <a:schemeClr val="tx1"/>
                          </a:solidFill>
                        </a:rPr>
                        <a:t>ClinicQ ruled out by Dr. Cho 8/6 (no cross-location reporting). Other options Tom mentioned 7/14 are unnamed.</a:t>
                      </a:r>
                      <a:endParaRPr lang="en-US" sz="1100" dirty="0"/>
                    </a:p>
                  </a:txBody>
                  <a:tcPr marL="73152" marR="73152" marT="27432" marB="27432"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tcPr>
                </a:tc>
              </a:tr>
              <a:tr h="457200">
                <a:tc>
                  <a:txBody>
                    <a:bodyPr/>
                    <a:lstStyle/>
                    <a:p>
                      <a:pPr indent="0" marL="0">
                        <a:buNone/>
                      </a:pPr>
                      <a:r>
                        <a:rPr lang="en-US" sz="1100" b="1" dirty="0">
                          <a:solidFill>
                            <a:schemeClr val="tx1"/>
                          </a:solidFill>
                        </a:rPr>
                        <a:t>Value (Metrics)</a:t>
                      </a:r>
                      <a:endParaRPr lang="en-US" sz="1100" dirty="0"/>
                    </a:p>
                  </a:txBody>
                  <a:tcPr marL="73152" marR="73152" marT="27432" marB="27432"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tcPr>
                </a:tc>
                <a:tc>
                  <a:txBody>
                    <a:bodyPr/>
                    <a:lstStyle/>
                    <a:p>
                      <a:pPr algn="ctr" indent="0" marL="0">
                        <a:buNone/>
                      </a:pPr>
                      <a:r>
                        <a:rPr lang="en-US" sz="1100" b="1" dirty="0">
                          <a:solidFill>
                            <a:schemeClr val="tx1"/>
                          </a:solidFill>
                        </a:rPr>
                        <a:t>Assumed</a:t>
                      </a:r>
                      <a:endParaRPr lang="en-US" sz="1100" dirty="0"/>
                    </a:p>
                  </a:txBody>
                  <a:tcPr marL="73152" marR="73152" marT="27432" marB="27432"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chemeClr val="accent4"/>
                    </a:solidFill>
                  </a:tcPr>
                </a:tc>
                <a:tc>
                  <a:txBody>
                    <a:bodyPr/>
                    <a:lstStyle/>
                    <a:p>
                      <a:pPr indent="0" marL="0">
                        <a:buNone/>
                      </a:pPr>
                      <a:r>
                        <a:rPr lang="en-US" sz="1100" dirty="0">
                          <a:solidFill>
                            <a:schemeClr val="tx1"/>
                          </a:solidFill>
                        </a:rPr>
                        <a:t>CRM targets a no-show drop. No buyer has mentioned no-shows. Buyer measures: double-booking, front-desk hours.</a:t>
                      </a:r>
                      <a:endParaRPr lang="en-US" sz="1100" dirty="0"/>
                    </a:p>
                  </a:txBody>
                  <a:tcPr marL="73152" marR="73152" marT="27432" marB="27432"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tcPr>
                </a:tc>
              </a:tr>
              <a:tr h="457200">
                <a:tc>
                  <a:txBody>
                    <a:bodyPr/>
                    <a:lstStyle/>
                    <a:p>
                      <a:pPr indent="0" marL="0">
                        <a:buNone/>
                      </a:pPr>
                      <a:r>
                        <a:rPr lang="en-US" sz="1100" b="1" dirty="0">
                          <a:solidFill>
                            <a:schemeClr val="tx1"/>
                          </a:solidFill>
                        </a:rPr>
                        <a:t>Evaluation process (Decision Criteria)</a:t>
                      </a:r>
                      <a:endParaRPr lang="en-US" sz="1100" dirty="0"/>
                    </a:p>
                  </a:txBody>
                  <a:tcPr marL="73152" marR="73152" marT="27432" marB="27432"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tcPr>
                </a:tc>
                <a:tc>
                  <a:txBody>
                    <a:bodyPr/>
                    <a:lstStyle/>
                    <a:p>
                      <a:pPr algn="ctr" indent="0" marL="0">
                        <a:buNone/>
                      </a:pPr>
                      <a:r>
                        <a:rPr lang="en-US" sz="1100" b="1" dirty="0">
                          <a:solidFill>
                            <a:schemeClr val="bg1"/>
                          </a:solidFill>
                        </a:rPr>
                        <a:t>Confirmed</a:t>
                      </a:r>
                      <a:endParaRPr lang="en-US" sz="1100" dirty="0"/>
                    </a:p>
                  </a:txBody>
                  <a:tcPr marL="73152" marR="73152" marT="27432" marB="27432"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chemeClr val="accent3"/>
                    </a:solidFill>
                  </a:tcPr>
                </a:tc>
                <a:tc>
                  <a:txBody>
                    <a:bodyPr/>
                    <a:lstStyle/>
                    <a:p>
                      <a:pPr indent="0" marL="0">
                        <a:buNone/>
                      </a:pPr>
                      <a:r>
                        <a:rPr lang="en-US" sz="1100" dirty="0">
                          <a:solidFill>
                            <a:schemeClr val="tx1"/>
                          </a:solidFill>
                        </a:rPr>
                        <a:t>Cross-location reporting (Cho 8/6), front desk fit (Tom), security: Nate had no open items 9/18.</a:t>
                      </a:r>
                      <a:endParaRPr lang="en-US" sz="1100" dirty="0"/>
                    </a:p>
                  </a:txBody>
                  <a:tcPr marL="73152" marR="73152" marT="27432" marB="27432"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tcPr>
                </a:tc>
              </a:tr>
              <a:tr h="457200">
                <a:tc>
                  <a:txBody>
                    <a:bodyPr/>
                    <a:lstStyle/>
                    <a:p>
                      <a:pPr indent="0" marL="0">
                        <a:buNone/>
                      </a:pPr>
                      <a:r>
                        <a:rPr lang="en-US" sz="1100" b="1" dirty="0">
                          <a:solidFill>
                            <a:schemeClr val="tx1"/>
                          </a:solidFill>
                        </a:rPr>
                        <a:t>Buying process (Economic Buyer, Paper Process)</a:t>
                      </a:r>
                      <a:endParaRPr lang="en-US" sz="1100" dirty="0"/>
                    </a:p>
                  </a:txBody>
                  <a:tcPr marL="73152" marR="73152" marT="27432" marB="27432"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tcPr>
                </a:tc>
                <a:tc>
                  <a:txBody>
                    <a:bodyPr/>
                    <a:lstStyle/>
                    <a:p>
                      <a:pPr algn="ctr" indent="0" marL="0">
                        <a:buNone/>
                      </a:pPr>
                      <a:r>
                        <a:rPr lang="en-US" sz="1100" b="1" dirty="0">
                          <a:solidFill>
                            <a:schemeClr val="bg1"/>
                          </a:solidFill>
                        </a:rPr>
                        <a:t>Confirmed / Unknown</a:t>
                      </a:r>
                      <a:endParaRPr lang="en-US" sz="1100" dirty="0"/>
                    </a:p>
                  </a:txBody>
                  <a:tcPr marL="73152" marR="73152" marT="27432" marB="27432"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chemeClr val="accent6"/>
                    </a:solidFill>
                  </a:tcPr>
                </a:tc>
                <a:tc>
                  <a:txBody>
                    <a:bodyPr/>
                    <a:lstStyle/>
                    <a:p>
                      <a:pPr indent="0" marL="0">
                        <a:buNone/>
                      </a:pPr>
                      <a:r>
                        <a:rPr lang="en-US" sz="1100" dirty="0">
                          <a:solidFill>
                            <a:schemeClr val="tx1"/>
                          </a:solidFill>
                        </a:rPr>
                        <a:t>Raquel owns budget, Ian approves over $50,000. Signer for Bluebird Dental Holdings LLC not yet named.</a:t>
                      </a:r>
                      <a:endParaRPr lang="en-US" sz="1100" dirty="0"/>
                    </a:p>
                  </a:txBody>
                  <a:tcPr marL="73152" marR="73152" marT="27432" marB="27432"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tcPr>
                </a:tc>
              </a:tr>
              <a:tr h="457200">
                <a:tc>
                  <a:txBody>
                    <a:bodyPr/>
                    <a:lstStyle/>
                    <a:p>
                      <a:pPr indent="0" marL="0">
                        <a:buNone/>
                      </a:pPr>
                      <a:r>
                        <a:rPr lang="en-US" sz="1100" b="1" dirty="0">
                          <a:solidFill>
                            <a:schemeClr val="tx1"/>
                          </a:solidFill>
                        </a:rPr>
                        <a:t>People (Champion, Economic Buyer)</a:t>
                      </a:r>
                      <a:endParaRPr lang="en-US" sz="1100" dirty="0"/>
                    </a:p>
                  </a:txBody>
                  <a:tcPr marL="73152" marR="73152" marT="27432" marB="27432"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tcPr>
                </a:tc>
                <a:tc>
                  <a:txBody>
                    <a:bodyPr/>
                    <a:lstStyle/>
                    <a:p>
                      <a:pPr algn="ctr" indent="0" marL="0">
                        <a:buNone/>
                      </a:pPr>
                      <a:r>
                        <a:rPr lang="en-US" sz="1100" b="1" dirty="0">
                          <a:solidFill>
                            <a:schemeClr val="bg1"/>
                          </a:solidFill>
                        </a:rPr>
                        <a:t>Confirmed</a:t>
                      </a:r>
                      <a:endParaRPr lang="en-US" sz="1100" dirty="0"/>
                    </a:p>
                  </a:txBody>
                  <a:tcPr marL="73152" marR="73152" marT="27432" marB="27432"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chemeClr val="accent3"/>
                    </a:solidFill>
                  </a:tcPr>
                </a:tc>
                <a:tc>
                  <a:txBody>
                    <a:bodyPr/>
                    <a:lstStyle/>
                    <a:p>
                      <a:pPr indent="0" marL="0">
                        <a:buNone/>
                      </a:pPr>
                      <a:r>
                        <a:rPr lang="en-US" sz="1100" dirty="0">
                          <a:solidFill>
                            <a:schemeClr val="tx1"/>
                          </a:solidFill>
                        </a:rPr>
                        <a:t>Raquel engaged by action (redlines 9/29). Tom volunteered twice; champion test still Proposed.</a:t>
                      </a:r>
                      <a:endParaRPr lang="en-US" sz="1100" dirty="0"/>
                    </a:p>
                  </a:txBody>
                  <a:tcPr marL="73152" marR="73152" marT="27432" marB="27432"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tcPr>
                </a:tc>
              </a:tr>
              <a:tr h="457200">
                <a:tc>
                  <a:txBody>
                    <a:bodyPr/>
                    <a:lstStyle/>
                    <a:p>
                      <a:pPr indent="0" marL="0">
                        <a:buNone/>
                      </a:pPr>
                      <a:r>
                        <a:rPr lang="en-US" sz="1100" b="1" dirty="0">
                          <a:solidFill>
                            <a:schemeClr val="tx1"/>
                          </a:solidFill>
                        </a:rPr>
                        <a:t>Commercials</a:t>
                      </a:r>
                      <a:endParaRPr lang="en-US" sz="1100" dirty="0"/>
                    </a:p>
                  </a:txBody>
                  <a:tcPr marL="73152" marR="73152" marT="27432" marB="27432"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tcPr>
                </a:tc>
                <a:tc>
                  <a:txBody>
                    <a:bodyPr/>
                    <a:lstStyle/>
                    <a:p>
                      <a:pPr algn="ctr" indent="0" marL="0">
                        <a:buNone/>
                      </a:pPr>
                      <a:r>
                        <a:rPr lang="en-US" sz="1100" b="1" dirty="0">
                          <a:solidFill>
                            <a:schemeClr val="bg1"/>
                          </a:solidFill>
                        </a:rPr>
                        <a:t>Confirmed / Unknown</a:t>
                      </a:r>
                      <a:endParaRPr lang="en-US" sz="1100" dirty="0"/>
                    </a:p>
                  </a:txBody>
                  <a:tcPr marL="73152" marR="73152" marT="27432" marB="27432"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chemeClr val="accent6"/>
                    </a:solidFill>
                  </a:tcPr>
                </a:tc>
                <a:tc>
                  <a:txBody>
                    <a:bodyPr/>
                    <a:lstStyle/>
                    <a:p>
                      <a:pPr indent="0" marL="0">
                        <a:buNone/>
                      </a:pPr>
                      <a:r>
                        <a:rPr lang="en-US" sz="1100" dirty="0">
                          <a:solidFill>
                            <a:schemeClr val="tx1"/>
                          </a:solidFill>
                        </a:rPr>
                        <a:t>$60,000 and $5,000 per location accepted. Net 60 against net 30 and the section 9 carve-out are open.</a:t>
                      </a:r>
                      <a:endParaRPr lang="en-US" sz="1100" dirty="0"/>
                    </a:p>
                  </a:txBody>
                  <a:tcPr marL="73152" marR="73152" marT="27432" marB="27432"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tcPr>
                </a:tc>
              </a:tr>
              <a:tr h="457200">
                <a:tc>
                  <a:txBody>
                    <a:bodyPr/>
                    <a:lstStyle/>
                    <a:p>
                      <a:pPr indent="0" marL="0">
                        <a:buNone/>
                      </a:pPr>
                      <a:r>
                        <a:rPr lang="en-US" sz="1100" b="1" dirty="0">
                          <a:solidFill>
                            <a:schemeClr val="tx1"/>
                          </a:solidFill>
                        </a:rPr>
                        <a:t>Plan and momentum</a:t>
                      </a:r>
                      <a:endParaRPr lang="en-US" sz="1100" dirty="0"/>
                    </a:p>
                  </a:txBody>
                  <a:tcPr marL="73152" marR="73152" marT="27432" marB="27432"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tcPr>
                </a:tc>
                <a:tc>
                  <a:txBody>
                    <a:bodyPr/>
                    <a:lstStyle/>
                    <a:p>
                      <a:pPr algn="ctr" indent="0" marL="0">
                        <a:buNone/>
                      </a:pPr>
                      <a:r>
                        <a:rPr lang="en-US" sz="1100" b="1" dirty="0">
                          <a:solidFill>
                            <a:schemeClr val="tx1"/>
                          </a:solidFill>
                        </a:rPr>
                        <a:t>Confirmed / Assumed</a:t>
                      </a:r>
                      <a:endParaRPr lang="en-US" sz="1100" dirty="0"/>
                    </a:p>
                  </a:txBody>
                  <a:tcPr marL="73152" marR="73152" marT="27432" marB="27432"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chemeClr val="accent4"/>
                    </a:solidFill>
                  </a:tcPr>
                </a:tc>
                <a:tc>
                  <a:txBody>
                    <a:bodyPr/>
                    <a:lstStyle/>
                    <a:p>
                      <a:pPr indent="0" marL="0">
                        <a:buNone/>
                      </a:pPr>
                      <a:r>
                        <a:rPr lang="en-US" sz="1100" dirty="0">
                          <a:solidFill>
                            <a:schemeClr val="tx1"/>
                          </a:solidFill>
                        </a:rPr>
                        <a:t>Buyer actions have landed on the 9/5 plan dates. The 10/10 reply is a Saturday and not buyer-stated.</a:t>
                      </a:r>
                      <a:endParaRPr lang="en-US" sz="1100" dirty="0"/>
                    </a:p>
                  </a:txBody>
                  <a:tcPr marL="73152" marR="73152" marT="27432" marB="27432"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tcPr>
                </a:tc>
              </a:tr>
              <a:tr h="457200">
                <a:tc>
                  <a:txBody>
                    <a:bodyPr/>
                    <a:lstStyle/>
                    <a:p>
                      <a:pPr indent="0" marL="0">
                        <a:buNone/>
                      </a:pPr>
                      <a:r>
                        <a:rPr lang="en-US" sz="1100" b="1" dirty="0">
                          <a:solidFill>
                            <a:schemeClr val="tx1"/>
                          </a:solidFill>
                        </a:rPr>
                        <a:t>Outside risks</a:t>
                      </a:r>
                      <a:endParaRPr lang="en-US" sz="1100" dirty="0"/>
                    </a:p>
                  </a:txBody>
                  <a:tcPr marL="73152" marR="73152" marT="27432" marB="27432"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tcPr>
                </a:tc>
                <a:tc>
                  <a:txBody>
                    <a:bodyPr/>
                    <a:lstStyle/>
                    <a:p>
                      <a:pPr algn="ctr" indent="0" marL="0">
                        <a:buNone/>
                      </a:pPr>
                      <a:r>
                        <a:rPr lang="en-US" sz="1100" b="1" dirty="0">
                          <a:solidFill>
                            <a:schemeClr val="tx1"/>
                          </a:solidFill>
                        </a:rPr>
                        <a:t>Assumed</a:t>
                      </a:r>
                      <a:endParaRPr lang="en-US" sz="1100" dirty="0"/>
                    </a:p>
                  </a:txBody>
                  <a:tcPr marL="73152" marR="73152" marT="27432" marB="27432"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chemeClr val="accent4"/>
                    </a:solidFill>
                  </a:tcPr>
                </a:tc>
                <a:tc>
                  <a:txBody>
                    <a:bodyPr/>
                    <a:lstStyle/>
                    <a:p>
                      <a:pPr indent="0" marL="0">
                        <a:buNone/>
                      </a:pPr>
                      <a:r>
                        <a:rPr lang="en-US" sz="1100" dirty="0">
                          <a:solidFill>
                            <a:schemeClr val="tx1"/>
                          </a:solidFill>
                        </a:rPr>
                        <a:t>No freeze or competitor surfaced. The 11/16 parallel run is the first date at risk (our plan).</a:t>
                      </a:r>
                      <a:endParaRPr lang="en-US" sz="1100" dirty="0"/>
                    </a:p>
                  </a:txBody>
                  <a:tcPr marL="73152" marR="73152" marT="27432" marB="27432"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tcPr>
                </a:tc>
              </a:tr>
            </a:tbl>
          </a:graphicData>
        </a:graphic>
      </p:graphicFrame>
      <p:sp>
        <p:nvSpPr>
          <p:cNvPr id="4" name="Text 1"/>
          <p:cNvSpPr txBox="1"/>
          <p:nvPr/>
        </p:nvSpPr>
        <p:spPr>
          <a:xfrm>
            <a:off x="548640" y="6126480"/>
            <a:ext cx="11064240" cy="274320"/>
          </a:xfrm>
          <a:prstGeom prst="rect">
            <a:avLst/>
          </a:prstGeom>
          <a:noFill/>
          <a:ln/>
        </p:spPr>
        <p:txBody>
          <a:bodyPr wrap="square" lIns="0" tIns="0" rIns="0" bIns="0" rtlCol="0" anchor="ctr"/>
          <a:lstStyle/>
          <a:p>
            <a:pPr indent="0" marL="0">
              <a:buNone/>
            </a:pPr>
            <a:r>
              <a:rPr lang="en-US" sz="1100" dirty="0">
                <a:solidFill>
                  <a:schemeClr val="accent6"/>
                </a:solidFill>
              </a:rPr>
              <a:t>Status key: Confirmed = buyer action or dated buyer statement. Assumed = rep-reported or inferred. Unknown = no answer yet. A split row is colored by its weaker part.</a:t>
            </a:r>
            <a:endParaRPr lang="en-US" sz="1100" dirty="0"/>
          </a:p>
        </p:txBody>
      </p:sp>
      <p:sp>
        <p:nvSpPr>
          <p:cNvPr id="25" name="Slide Number Placeholder 0"/>
          <p:cNvSpPr>
            <a:spLocks noGrp="1"/>
          </p:cNvSpPr>
          <p:nvPr>
            <p:ph type="sldNum" sz="quarter" idx="4294967295"/>
          </p:nvPr>
        </p:nvSpPr>
        <p:spPr>
          <a:xfrm>
            <a:off x="11247120" y="6419088"/>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000" b="1" dirty="0">
                <a:solidFill>
                  <a:schemeClr val="tx1"/>
                </a:solidFill>
              </a:rPr>
              <a:t>People: the budget owner is engaged, the signer is not named</a:t>
            </a:r>
            <a:endParaRPr lang="en-US" sz="3000" dirty="0"/>
          </a:p>
        </p:txBody>
      </p:sp>
      <p:graphicFrame>
        <p:nvGraphicFramePr>
          <p:cNvPr id="5" name="Roles table"/>
          <p:cNvGraphicFramePr>
            <a:graphicFrameLocks noGrp="1"/>
          </p:cNvGraphicFramePr>
          <p:nvPr>
            <p:extLst>
              <p:ext uri="{D42A27DB-BD31-4B8C-83A1-F6EECF244321}">
                <p14:modId xmlns:p14="http://schemas.microsoft.com/office/powerpoint/2010/main" val="1579011935"/>
              </p:ext>
            </p:extLst>
          </p:nvPr>
        </p:nvGraphicFramePr>
        <p:xfrm>
          <a:off x="548640" y="1188720"/>
          <a:ext cx="7040880" cy="914400"/>
        </p:xfrm>
        <a:graphic>
          <a:graphicData uri="http://schemas.openxmlformats.org/drawingml/2006/table">
            <a:tbl>
              <a:tblPr/>
              <a:tblGrid>
                <a:gridCol w="1463040"/>
                <a:gridCol w="2103120"/>
                <a:gridCol w="3474720"/>
              </a:tblGrid>
              <a:tr h="320040">
                <a:tc>
                  <a:txBody>
                    <a:bodyPr/>
                    <a:lstStyle/>
                    <a:p>
                      <a:pPr indent="0" marL="0">
                        <a:buNone/>
                      </a:pPr>
                      <a:r>
                        <a:rPr lang="en-US" sz="1100" b="1" dirty="0">
                          <a:solidFill>
                            <a:schemeClr val="bg1"/>
                          </a:solidFill>
                        </a:rPr>
                        <a:t>Role</a:t>
                      </a:r>
                      <a:endParaRPr lang="en-US" sz="1100" dirty="0"/>
                    </a:p>
                  </a:txBody>
                  <a:tcPr marL="73152" marR="73152" marT="27432" marB="27432"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chemeClr val="tx2"/>
                    </a:solidFill>
                  </a:tcPr>
                </a:tc>
                <a:tc>
                  <a:txBody>
                    <a:bodyPr/>
                    <a:lstStyle/>
                    <a:p>
                      <a:pPr indent="0" marL="0">
                        <a:buNone/>
                      </a:pPr>
                      <a:r>
                        <a:rPr lang="en-US" sz="1100" b="1" dirty="0">
                          <a:solidFill>
                            <a:schemeClr val="bg1"/>
                          </a:solidFill>
                        </a:rPr>
                        <a:t>Name and title</a:t>
                      </a:r>
                      <a:endParaRPr lang="en-US" sz="1100" dirty="0"/>
                    </a:p>
                  </a:txBody>
                  <a:tcPr marL="73152" marR="73152" marT="27432" marB="27432"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chemeClr val="tx2"/>
                    </a:solidFill>
                  </a:tcPr>
                </a:tc>
                <a:tc>
                  <a:txBody>
                    <a:bodyPr/>
                    <a:lstStyle/>
                    <a:p>
                      <a:pPr indent="0" marL="0">
                        <a:buNone/>
                      </a:pPr>
                      <a:r>
                        <a:rPr lang="en-US" sz="1100" b="1" dirty="0">
                          <a:solidFill>
                            <a:schemeClr val="bg1"/>
                          </a:solidFill>
                        </a:rPr>
                        <a:t>How we know</a:t>
                      </a:r>
                      <a:endParaRPr lang="en-US" sz="1100" dirty="0"/>
                    </a:p>
                  </a:txBody>
                  <a:tcPr marL="73152" marR="73152" marT="27432" marB="27432"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chemeClr val="tx2"/>
                    </a:solidFill>
                  </a:tcPr>
                </a:tc>
              </a:tr>
              <a:tr h="566928">
                <a:tc>
                  <a:txBody>
                    <a:bodyPr/>
                    <a:lstStyle/>
                    <a:p>
                      <a:pPr indent="0" marL="0">
                        <a:buNone/>
                      </a:pPr>
                      <a:r>
                        <a:rPr lang="en-US" sz="1100" b="1" dirty="0">
                          <a:solidFill>
                            <a:schemeClr val="tx1"/>
                          </a:solidFill>
                        </a:rPr>
                        <a:t>Economic buyer</a:t>
                      </a:r>
                      <a:endParaRPr lang="en-US" sz="1100" dirty="0"/>
                    </a:p>
                  </a:txBody>
                  <a:tcPr marL="73152" marR="73152" marT="27432" marB="27432"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tcPr>
                </a:tc>
                <a:tc>
                  <a:txBody>
                    <a:bodyPr/>
                    <a:lstStyle/>
                    <a:p>
                      <a:pPr indent="0" marL="0">
                        <a:buNone/>
                      </a:pPr>
                      <a:r>
                        <a:rPr lang="en-US" sz="1100" dirty="0">
                          <a:solidFill>
                            <a:schemeClr val="tx1"/>
                          </a:solidFill>
                        </a:rPr>
                        <a:t>Raquel Dunn, COO</a:t>
                      </a:r>
                      <a:endParaRPr lang="en-US" sz="1100" dirty="0"/>
                    </a:p>
                  </a:txBody>
                  <a:tcPr marL="73152" marR="73152" marT="27432" marB="27432"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tcPr>
                </a:tc>
                <a:tc>
                  <a:txBody>
                    <a:bodyPr/>
                    <a:lstStyle/>
                    <a:p>
                      <a:pPr indent="0" marL="0">
                        <a:buNone/>
                      </a:pPr>
                      <a:r>
                        <a:rPr lang="en-US" sz="1100" dirty="0">
                          <a:solidFill>
                            <a:schemeClr val="tx1"/>
                          </a:solidFill>
                        </a:rPr>
                        <a:t>Owns the budget (8/27). Marked up the agreement herself (9/29). Spoke on 3 of 4 calls.</a:t>
                      </a:r>
                      <a:endParaRPr lang="en-US" sz="1100" dirty="0"/>
                    </a:p>
                  </a:txBody>
                  <a:tcPr marL="73152" marR="73152" marT="27432" marB="27432"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tcPr>
                </a:tc>
              </a:tr>
              <a:tr h="566928">
                <a:tc>
                  <a:txBody>
                    <a:bodyPr/>
                    <a:lstStyle/>
                    <a:p>
                      <a:pPr indent="0" marL="0">
                        <a:buNone/>
                      </a:pPr>
                      <a:r>
                        <a:rPr lang="en-US" sz="1100" b="1" dirty="0">
                          <a:solidFill>
                            <a:schemeClr val="tx1"/>
                          </a:solidFill>
                        </a:rPr>
                        <a:t>Finance approver</a:t>
                      </a:r>
                      <a:endParaRPr lang="en-US" sz="1100" dirty="0"/>
                    </a:p>
                  </a:txBody>
                  <a:tcPr marL="73152" marR="73152" marT="27432" marB="27432"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tcPr>
                </a:tc>
                <a:tc>
                  <a:txBody>
                    <a:bodyPr/>
                    <a:lstStyle/>
                    <a:p>
                      <a:pPr indent="0" marL="0">
                        <a:buNone/>
                      </a:pPr>
                      <a:r>
                        <a:rPr lang="en-US" sz="1100" dirty="0">
                          <a:solidFill>
                            <a:schemeClr val="tx1"/>
                          </a:solidFill>
                        </a:rPr>
                        <a:t>Ian Frost, CFO</a:t>
                      </a:r>
                      <a:endParaRPr lang="en-US" sz="1100" dirty="0"/>
                    </a:p>
                  </a:txBody>
                  <a:tcPr marL="73152" marR="73152" marT="27432" marB="27432"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tcPr>
                </a:tc>
                <a:tc>
                  <a:txBody>
                    <a:bodyPr/>
                    <a:lstStyle/>
                    <a:p>
                      <a:pPr indent="0" marL="0">
                        <a:buNone/>
                      </a:pPr>
                      <a:r>
                        <a:rPr lang="en-US" sz="1100" dirty="0">
                          <a:solidFill>
                            <a:schemeClr val="tx1"/>
                          </a:solidFill>
                        </a:rPr>
                        <a:t>Support if terms are reasonable (9/10). One touch only. Net 60 is his standard.</a:t>
                      </a:r>
                      <a:endParaRPr lang="en-US" sz="1100" dirty="0"/>
                    </a:p>
                  </a:txBody>
                  <a:tcPr marL="73152" marR="73152" marT="27432" marB="27432"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tcPr>
                </a:tc>
              </a:tr>
              <a:tr h="566928">
                <a:tc>
                  <a:txBody>
                    <a:bodyPr/>
                    <a:lstStyle/>
                    <a:p>
                      <a:pPr indent="0" marL="0">
                        <a:buNone/>
                      </a:pPr>
                      <a:r>
                        <a:rPr lang="en-US" sz="1100" b="1" dirty="0">
                          <a:solidFill>
                            <a:schemeClr val="tx1"/>
                          </a:solidFill>
                        </a:rPr>
                        <a:t>Technical buyer</a:t>
                      </a:r>
                      <a:endParaRPr lang="en-US" sz="1100" dirty="0"/>
                    </a:p>
                  </a:txBody>
                  <a:tcPr marL="73152" marR="73152" marT="27432" marB="27432"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tcPr>
                </a:tc>
                <a:tc>
                  <a:txBody>
                    <a:bodyPr/>
                    <a:lstStyle/>
                    <a:p>
                      <a:pPr indent="0" marL="0">
                        <a:buNone/>
                      </a:pPr>
                      <a:r>
                        <a:rPr lang="en-US" sz="1100" dirty="0">
                          <a:solidFill>
                            <a:schemeClr val="tx1"/>
                          </a:solidFill>
                        </a:rPr>
                        <a:t>Nate Ruiz, IT contractor</a:t>
                      </a:r>
                      <a:endParaRPr lang="en-US" sz="1100" dirty="0"/>
                    </a:p>
                  </a:txBody>
                  <a:tcPr marL="73152" marR="73152" marT="27432" marB="27432"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tcPr>
                </a:tc>
                <a:tc>
                  <a:txBody>
                    <a:bodyPr/>
                    <a:lstStyle/>
                    <a:p>
                      <a:pPr indent="0" marL="0">
                        <a:buNone/>
                      </a:pPr>
                      <a:r>
                        <a:rPr lang="en-US" sz="1100" dirty="0">
                          <a:solidFill>
                            <a:schemeClr val="tx1"/>
                          </a:solidFill>
                        </a:rPr>
                        <a:t>Questionnaire accepted, no open items (email 9/18).</a:t>
                      </a:r>
                      <a:endParaRPr lang="en-US" sz="1100" dirty="0"/>
                    </a:p>
                  </a:txBody>
                  <a:tcPr marL="73152" marR="73152" marT="27432" marB="27432"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tcPr>
                </a:tc>
              </a:tr>
              <a:tr h="566928">
                <a:tc>
                  <a:txBody>
                    <a:bodyPr/>
                    <a:lstStyle/>
                    <a:p>
                      <a:pPr indent="0" marL="0">
                        <a:buNone/>
                      </a:pPr>
                      <a:r>
                        <a:rPr lang="en-US" sz="1100" b="1" dirty="0">
                          <a:solidFill>
                            <a:schemeClr val="tx1"/>
                          </a:solidFill>
                        </a:rPr>
                        <a:t>Evaluator, clinical</a:t>
                      </a:r>
                      <a:endParaRPr lang="en-US" sz="1100" dirty="0"/>
                    </a:p>
                  </a:txBody>
                  <a:tcPr marL="73152" marR="73152" marT="27432" marB="27432"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tcPr>
                </a:tc>
                <a:tc>
                  <a:txBody>
                    <a:bodyPr/>
                    <a:lstStyle/>
                    <a:p>
                      <a:pPr indent="0" marL="0">
                        <a:buNone/>
                      </a:pPr>
                      <a:r>
                        <a:rPr lang="en-US" sz="1100" dirty="0">
                          <a:solidFill>
                            <a:schemeClr val="tx1"/>
                          </a:solidFill>
                        </a:rPr>
                        <a:t>Dr. Helen Cho, Clinical Director</a:t>
                      </a:r>
                      <a:endParaRPr lang="en-US" sz="1100" dirty="0"/>
                    </a:p>
                  </a:txBody>
                  <a:tcPr marL="73152" marR="73152" marT="27432" marB="27432"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tcPr>
                </a:tc>
                <a:tc>
                  <a:txBody>
                    <a:bodyPr/>
                    <a:lstStyle/>
                    <a:p>
                      <a:pPr indent="0" marL="0">
                        <a:buNone/>
                      </a:pPr>
                      <a:r>
                        <a:rPr lang="en-US" sz="1100" dirty="0">
                          <a:solidFill>
                            <a:schemeClr val="tx1"/>
                          </a:solidFill>
                        </a:rPr>
                        <a:t>ClinicQ out for her, told group the reporting fits (Tom, 9/18). Last direct 8/6.</a:t>
                      </a:r>
                      <a:endParaRPr lang="en-US" sz="1100" dirty="0"/>
                    </a:p>
                  </a:txBody>
                  <a:tcPr marL="73152" marR="73152" marT="27432" marB="27432"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tcPr>
                </a:tc>
              </a:tr>
              <a:tr h="566928">
                <a:tc>
                  <a:txBody>
                    <a:bodyPr/>
                    <a:lstStyle/>
                    <a:p>
                      <a:pPr indent="0" marL="0">
                        <a:buNone/>
                      </a:pPr>
                      <a:r>
                        <a:rPr lang="en-US" sz="1100" b="1" dirty="0">
                          <a:solidFill>
                            <a:schemeClr val="tx1"/>
                          </a:solidFill>
                        </a:rPr>
                        <a:t>Champion</a:t>
                      </a:r>
                      <a:endParaRPr lang="en-US" sz="1100" dirty="0"/>
                    </a:p>
                  </a:txBody>
                  <a:tcPr marL="73152" marR="73152" marT="27432" marB="27432"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tcPr>
                </a:tc>
                <a:tc>
                  <a:txBody>
                    <a:bodyPr/>
                    <a:lstStyle/>
                    <a:p>
                      <a:pPr indent="0" marL="0">
                        <a:buNone/>
                      </a:pPr>
                      <a:r>
                        <a:rPr lang="en-US" sz="1100" dirty="0">
                          <a:solidFill>
                            <a:schemeClr val="tx1"/>
                          </a:solidFill>
                        </a:rPr>
                        <a:t>Tom Kessler, Office Manager Lead</a:t>
                      </a:r>
                      <a:endParaRPr lang="en-US" sz="1100" dirty="0"/>
                    </a:p>
                  </a:txBody>
                  <a:tcPr marL="73152" marR="73152" marT="27432" marB="27432"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tcPr>
                </a:tc>
                <a:tc>
                  <a:txBody>
                    <a:bodyPr/>
                    <a:lstStyle/>
                    <a:p>
                      <a:pPr indent="0" marL="0">
                        <a:buNone/>
                      </a:pPr>
                      <a:r>
                        <a:rPr lang="en-US" sz="1100" dirty="0">
                          <a:solidFill>
                            <a:schemeClr val="tx1"/>
                          </a:solidFill>
                        </a:rPr>
                        <a:t>Set up the Ian call (9/10) and presented to leadership 9/17. Volunteered both.</a:t>
                      </a:r>
                      <a:endParaRPr lang="en-US" sz="1100" dirty="0"/>
                    </a:p>
                  </a:txBody>
                  <a:tcPr marL="73152" marR="73152" marT="27432" marB="27432"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tcPr>
                </a:tc>
              </a:tr>
              <a:tr h="566928">
                <a:tc>
                  <a:txBody>
                    <a:bodyPr/>
                    <a:lstStyle/>
                    <a:p>
                      <a:pPr indent="0" marL="0">
                        <a:buNone/>
                      </a:pPr>
                      <a:r>
                        <a:rPr lang="en-US" sz="1100" b="1" dirty="0">
                          <a:solidFill>
                            <a:schemeClr val="tx1"/>
                          </a:solidFill>
                        </a:rPr>
                        <a:t>Coach</a:t>
                      </a:r>
                      <a:endParaRPr lang="en-US" sz="1100" dirty="0"/>
                    </a:p>
                  </a:txBody>
                  <a:tcPr marL="73152" marR="73152" marT="27432" marB="27432"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tcPr>
                </a:tc>
                <a:tc>
                  <a:txBody>
                    <a:bodyPr/>
                    <a:lstStyle/>
                    <a:p>
                      <a:pPr indent="0" marL="0">
                        <a:buNone/>
                      </a:pPr>
                      <a:r>
                        <a:rPr lang="en-US" sz="1100" dirty="0">
                          <a:solidFill>
                            <a:schemeClr val="tx1"/>
                          </a:solidFill>
                        </a:rPr>
                        <a:t>Not identified</a:t>
                      </a:r>
                      <a:endParaRPr lang="en-US" sz="1100" dirty="0"/>
                    </a:p>
                  </a:txBody>
                  <a:tcPr marL="73152" marR="73152" marT="27432" marB="27432"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tcPr>
                </a:tc>
                <a:tc>
                  <a:txBody>
                    <a:bodyPr/>
                    <a:lstStyle/>
                    <a:p>
                      <a:pPr indent="0" marL="0">
                        <a:buNone/>
                      </a:pPr>
                      <a:r>
                        <a:rPr lang="en-US" sz="1100" dirty="0">
                          <a:solidFill>
                            <a:schemeClr val="tx1"/>
                          </a:solidFill>
                        </a:rPr>
                        <a:t>Tom may play both roles; no separate coach seen.</a:t>
                      </a:r>
                      <a:endParaRPr lang="en-US" sz="1100" dirty="0"/>
                    </a:p>
                  </a:txBody>
                  <a:tcPr marL="73152" marR="73152" marT="27432" marB="27432"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tcPr>
                </a:tc>
              </a:tr>
              <a:tr h="566928">
                <a:tc>
                  <a:txBody>
                    <a:bodyPr/>
                    <a:lstStyle/>
                    <a:p>
                      <a:pPr indent="0" marL="0">
                        <a:buNone/>
                      </a:pPr>
                      <a:r>
                        <a:rPr lang="en-US" sz="1100" b="1" dirty="0">
                          <a:solidFill>
                            <a:schemeClr val="tx1"/>
                          </a:solidFill>
                        </a:rPr>
                        <a:t>Legal</a:t>
                      </a:r>
                      <a:endParaRPr lang="en-US" sz="1100" dirty="0"/>
                    </a:p>
                  </a:txBody>
                  <a:tcPr marL="73152" marR="73152" marT="27432" marB="27432"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tcPr>
                </a:tc>
                <a:tc>
                  <a:txBody>
                    <a:bodyPr/>
                    <a:lstStyle/>
                    <a:p>
                      <a:pPr indent="0" marL="0">
                        <a:buNone/>
                      </a:pPr>
                      <a:r>
                        <a:rPr lang="en-US" sz="1100" dirty="0">
                          <a:solidFill>
                            <a:schemeClr val="tx1"/>
                          </a:solidFill>
                        </a:rPr>
                        <a:t>Priya Anand, outside counsel</a:t>
                      </a:r>
                      <a:endParaRPr lang="en-US" sz="1100" dirty="0"/>
                    </a:p>
                  </a:txBody>
                  <a:tcPr marL="73152" marR="73152" marT="27432" marB="27432"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tcPr>
                </a:tc>
                <a:tc>
                  <a:txBody>
                    <a:bodyPr/>
                    <a:lstStyle/>
                    <a:p>
                      <a:pPr indent="0" marL="0">
                        <a:buNone/>
                      </a:pPr>
                      <a:r>
                        <a:rPr lang="en-US" sz="1100" dirty="0">
                          <a:solidFill>
                            <a:schemeClr val="tx1"/>
                          </a:solidFill>
                        </a:rPr>
                        <a:t>Reviewed liability and data sections (9/29). Copied only; not in CRM contacts.</a:t>
                      </a:r>
                      <a:endParaRPr lang="en-US" sz="1100" dirty="0"/>
                    </a:p>
                  </a:txBody>
                  <a:tcPr marL="73152" marR="73152" marT="27432" marB="27432"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tcPr>
                </a:tc>
              </a:tr>
              <a:tr h="566928">
                <a:tc>
                  <a:txBody>
                    <a:bodyPr/>
                    <a:lstStyle/>
                    <a:p>
                      <a:pPr indent="0" marL="0">
                        <a:buNone/>
                      </a:pPr>
                      <a:r>
                        <a:rPr lang="en-US" sz="1100" b="1" dirty="0">
                          <a:solidFill>
                            <a:schemeClr val="tx1"/>
                          </a:solidFill>
                        </a:rPr>
                        <a:t>Known skeptic</a:t>
                      </a:r>
                      <a:endParaRPr lang="en-US" sz="1100" dirty="0"/>
                    </a:p>
                  </a:txBody>
                  <a:tcPr marL="73152" marR="73152" marT="27432" marB="27432"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tcPr>
                </a:tc>
                <a:tc>
                  <a:txBody>
                    <a:bodyPr/>
                    <a:lstStyle/>
                    <a:p>
                      <a:pPr indent="0" marL="0">
                        <a:buNone/>
                      </a:pPr>
                      <a:r>
                        <a:rPr lang="en-US" sz="1100" dirty="0">
                          <a:solidFill>
                            <a:schemeClr val="tx1"/>
                          </a:solidFill>
                        </a:rPr>
                        <a:t>Not identified</a:t>
                      </a:r>
                      <a:endParaRPr lang="en-US" sz="1100" dirty="0"/>
                    </a:p>
                  </a:txBody>
                  <a:tcPr marL="73152" marR="73152" marT="27432" marB="27432"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tcPr>
                </a:tc>
                <a:tc>
                  <a:txBody>
                    <a:bodyPr/>
                    <a:lstStyle/>
                    <a:p>
                      <a:pPr indent="0" marL="0">
                        <a:buNone/>
                      </a:pPr>
                      <a:r>
                        <a:rPr lang="en-US" sz="1100" dirty="0">
                          <a:solidFill>
                            <a:schemeClr val="tx1"/>
                          </a:solidFill>
                        </a:rPr>
                        <a:t>Ian's net 60 is a terms request, not opposition.</a:t>
                      </a:r>
                      <a:endParaRPr lang="en-US" sz="1100" dirty="0"/>
                    </a:p>
                  </a:txBody>
                  <a:tcPr marL="73152" marR="73152" marT="27432" marB="27432"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tcPr>
                </a:tc>
              </a:tr>
            </a:tbl>
          </a:graphicData>
        </a:graphic>
      </p:graphicFrame>
      <p:sp>
        <p:nvSpPr>
          <p:cNvPr id="4" name="Champion panel"/>
          <p:cNvSpPr/>
          <p:nvPr/>
        </p:nvSpPr>
        <p:spPr>
          <a:xfrm>
            <a:off x="7863840" y="1188720"/>
            <a:ext cx="3749040" cy="5029200"/>
          </a:xfrm>
          <a:prstGeom prst="roundRect">
            <a:avLst>
              <a:gd name="adj" fmla="val 1951"/>
            </a:avLst>
          </a:prstGeom>
          <a:solidFill>
            <a:schemeClr val="bg2"/>
          </a:solidFill>
          <a:ln w="12700">
            <a:solidFill>
              <a:schemeClr val="bg2"/>
            </a:solidFill>
            <a:prstDash val="solid"/>
          </a:ln>
        </p:spPr>
      </p:sp>
      <p:sp>
        <p:nvSpPr>
          <p:cNvPr id="5" name="Text 2"/>
          <p:cNvSpPr txBox="1"/>
          <p:nvPr/>
        </p:nvSpPr>
        <p:spPr>
          <a:xfrm>
            <a:off x="8092440" y="1325880"/>
            <a:ext cx="3291840" cy="274320"/>
          </a:xfrm>
          <a:prstGeom prst="rect">
            <a:avLst/>
          </a:prstGeom>
          <a:noFill/>
          <a:ln/>
        </p:spPr>
        <p:txBody>
          <a:bodyPr wrap="square" lIns="0" tIns="0" rIns="0" bIns="0" rtlCol="0" anchor="ctr"/>
          <a:lstStyle/>
          <a:p>
            <a:pPr indent="0" marL="0">
              <a:buNone/>
            </a:pPr>
            <a:r>
              <a:rPr lang="en-US" sz="1200" dirty="0">
                <a:solidFill>
                  <a:schemeClr val="accent6"/>
                </a:solidFill>
              </a:rPr>
              <a:t>Champion read</a:t>
            </a:r>
            <a:endParaRPr lang="en-US" sz="1200" dirty="0"/>
          </a:p>
        </p:txBody>
      </p:sp>
      <p:sp>
        <p:nvSpPr>
          <p:cNvPr id="6" name="Champion read"/>
          <p:cNvSpPr txBox="1"/>
          <p:nvPr/>
        </p:nvSpPr>
        <p:spPr>
          <a:xfrm>
            <a:off x="8092440" y="1600200"/>
            <a:ext cx="3291840" cy="457200"/>
          </a:xfrm>
          <a:prstGeom prst="rect">
            <a:avLst/>
          </a:prstGeom>
          <a:noFill/>
          <a:ln/>
        </p:spPr>
        <p:txBody>
          <a:bodyPr wrap="square" lIns="0" tIns="0" rIns="0" bIns="0" rtlCol="0" anchor="ctr"/>
          <a:lstStyle/>
          <a:p>
            <a:pPr indent="0" marL="0">
              <a:buNone/>
            </a:pPr>
            <a:r>
              <a:rPr lang="en-US" sz="2400" b="1" dirty="0">
                <a:solidFill>
                  <a:schemeClr val="accent3"/>
                </a:solidFill>
              </a:rPr>
              <a:t>Strong champion</a:t>
            </a:r>
            <a:endParaRPr lang="en-US" sz="2400" dirty="0"/>
          </a:p>
        </p:txBody>
      </p:sp>
      <p:sp>
        <p:nvSpPr>
          <p:cNvPr id="7" name="Test dot 1"/>
          <p:cNvSpPr/>
          <p:nvPr/>
        </p:nvSpPr>
        <p:spPr>
          <a:xfrm>
            <a:off x="8092440" y="2221992"/>
            <a:ext cx="237744" cy="237744"/>
          </a:xfrm>
          <a:prstGeom prst="ellipse">
            <a:avLst/>
          </a:prstGeom>
          <a:solidFill>
            <a:schemeClr val="accent3"/>
          </a:solidFill>
          <a:ln w="12700">
            <a:solidFill>
              <a:schemeClr val="accent3"/>
            </a:solidFill>
            <a:prstDash val="solid"/>
          </a:ln>
        </p:spPr>
      </p:sp>
      <p:sp>
        <p:nvSpPr>
          <p:cNvPr id="8" name="Test mark 1"/>
          <p:cNvSpPr txBox="1"/>
          <p:nvPr/>
        </p:nvSpPr>
        <p:spPr>
          <a:xfrm>
            <a:off x="8092440" y="2221992"/>
            <a:ext cx="237744" cy="237744"/>
          </a:xfrm>
          <a:prstGeom prst="rect">
            <a:avLst/>
          </a:prstGeom>
          <a:noFill/>
          <a:ln/>
        </p:spPr>
        <p:txBody>
          <a:bodyPr wrap="square" lIns="0" tIns="0" rIns="0" bIns="0" rtlCol="0" anchor="ctr"/>
          <a:lstStyle/>
          <a:p>
            <a:pPr algn="ctr" indent="0" marL="0">
              <a:buNone/>
            </a:pPr>
            <a:r>
              <a:rPr lang="en-US" sz="1100" b="1" dirty="0">
                <a:solidFill>
                  <a:schemeClr val="bg1"/>
                </a:solidFill>
              </a:rPr>
              <a:t>Yes</a:t>
            </a:r>
            <a:endParaRPr lang="en-US" sz="1100" dirty="0"/>
          </a:p>
        </p:txBody>
      </p:sp>
      <p:sp>
        <p:nvSpPr>
          <p:cNvPr id="9" name="Text 6"/>
          <p:cNvSpPr txBox="1"/>
          <p:nvPr/>
        </p:nvSpPr>
        <p:spPr>
          <a:xfrm>
            <a:off x="8458200" y="2194560"/>
            <a:ext cx="3017520" cy="292608"/>
          </a:xfrm>
          <a:prstGeom prst="rect">
            <a:avLst/>
          </a:prstGeom>
          <a:noFill/>
          <a:ln/>
        </p:spPr>
        <p:txBody>
          <a:bodyPr wrap="square" lIns="0" tIns="0" rIns="0" bIns="0" rtlCol="0" anchor="ctr"/>
          <a:lstStyle/>
          <a:p>
            <a:pPr indent="0" marL="0">
              <a:buNone/>
            </a:pPr>
            <a:r>
              <a:rPr lang="en-US" sz="1200" dirty="0">
                <a:solidFill>
                  <a:schemeClr val="tx1"/>
                </a:solidFill>
              </a:rPr>
              <a:t>Sells internally</a:t>
            </a:r>
            <a:endParaRPr lang="en-US" sz="1200" dirty="0"/>
          </a:p>
        </p:txBody>
      </p:sp>
      <p:sp>
        <p:nvSpPr>
          <p:cNvPr id="10" name="Test dot 2"/>
          <p:cNvSpPr/>
          <p:nvPr/>
        </p:nvSpPr>
        <p:spPr>
          <a:xfrm>
            <a:off x="8092440" y="2587752"/>
            <a:ext cx="237744" cy="237744"/>
          </a:xfrm>
          <a:prstGeom prst="ellipse">
            <a:avLst/>
          </a:prstGeom>
          <a:solidFill>
            <a:schemeClr val="accent3"/>
          </a:solidFill>
          <a:ln w="12700">
            <a:solidFill>
              <a:schemeClr val="accent3"/>
            </a:solidFill>
            <a:prstDash val="solid"/>
          </a:ln>
        </p:spPr>
      </p:sp>
      <p:sp>
        <p:nvSpPr>
          <p:cNvPr id="11" name="Test mark 2"/>
          <p:cNvSpPr txBox="1"/>
          <p:nvPr/>
        </p:nvSpPr>
        <p:spPr>
          <a:xfrm>
            <a:off x="8092440" y="2587752"/>
            <a:ext cx="237744" cy="237744"/>
          </a:xfrm>
          <a:prstGeom prst="rect">
            <a:avLst/>
          </a:prstGeom>
          <a:noFill/>
          <a:ln/>
        </p:spPr>
        <p:txBody>
          <a:bodyPr wrap="square" lIns="0" tIns="0" rIns="0" bIns="0" rtlCol="0" anchor="ctr"/>
          <a:lstStyle/>
          <a:p>
            <a:pPr algn="ctr" indent="0" marL="0">
              <a:buNone/>
            </a:pPr>
            <a:r>
              <a:rPr lang="en-US" sz="1100" b="1" dirty="0">
                <a:solidFill>
                  <a:schemeClr val="bg1"/>
                </a:solidFill>
              </a:rPr>
              <a:t>Yes</a:t>
            </a:r>
            <a:endParaRPr lang="en-US" sz="1100" dirty="0"/>
          </a:p>
        </p:txBody>
      </p:sp>
      <p:sp>
        <p:nvSpPr>
          <p:cNvPr id="12" name="Text 9"/>
          <p:cNvSpPr txBox="1"/>
          <p:nvPr/>
        </p:nvSpPr>
        <p:spPr>
          <a:xfrm>
            <a:off x="8458200" y="2560320"/>
            <a:ext cx="3017520" cy="292608"/>
          </a:xfrm>
          <a:prstGeom prst="rect">
            <a:avLst/>
          </a:prstGeom>
          <a:noFill/>
          <a:ln/>
        </p:spPr>
        <p:txBody>
          <a:bodyPr wrap="square" lIns="0" tIns="0" rIns="0" bIns="0" rtlCol="0" anchor="ctr"/>
          <a:lstStyle/>
          <a:p>
            <a:pPr indent="0" marL="0">
              <a:buNone/>
            </a:pPr>
            <a:r>
              <a:rPr lang="en-US" sz="1200" dirty="0">
                <a:solidFill>
                  <a:schemeClr val="tx1"/>
                </a:solidFill>
              </a:rPr>
              <a:t>Introduces us to others</a:t>
            </a:r>
            <a:endParaRPr lang="en-US" sz="1200" dirty="0"/>
          </a:p>
        </p:txBody>
      </p:sp>
      <p:sp>
        <p:nvSpPr>
          <p:cNvPr id="13" name="Test dot 3"/>
          <p:cNvSpPr/>
          <p:nvPr/>
        </p:nvSpPr>
        <p:spPr>
          <a:xfrm>
            <a:off x="8092440" y="2953512"/>
            <a:ext cx="237744" cy="237744"/>
          </a:xfrm>
          <a:prstGeom prst="ellipse">
            <a:avLst/>
          </a:prstGeom>
          <a:solidFill>
            <a:schemeClr val="accent3"/>
          </a:solidFill>
          <a:ln w="12700">
            <a:solidFill>
              <a:schemeClr val="accent3"/>
            </a:solidFill>
            <a:prstDash val="solid"/>
          </a:ln>
        </p:spPr>
      </p:sp>
      <p:sp>
        <p:nvSpPr>
          <p:cNvPr id="14" name="Test mark 3"/>
          <p:cNvSpPr txBox="1"/>
          <p:nvPr/>
        </p:nvSpPr>
        <p:spPr>
          <a:xfrm>
            <a:off x="8092440" y="2953512"/>
            <a:ext cx="237744" cy="237744"/>
          </a:xfrm>
          <a:prstGeom prst="rect">
            <a:avLst/>
          </a:prstGeom>
          <a:noFill/>
          <a:ln/>
        </p:spPr>
        <p:txBody>
          <a:bodyPr wrap="square" lIns="0" tIns="0" rIns="0" bIns="0" rtlCol="0" anchor="ctr"/>
          <a:lstStyle/>
          <a:p>
            <a:pPr algn="ctr" indent="0" marL="0">
              <a:buNone/>
            </a:pPr>
            <a:r>
              <a:rPr lang="en-US" sz="1100" b="1" dirty="0">
                <a:solidFill>
                  <a:schemeClr val="bg1"/>
                </a:solidFill>
              </a:rPr>
              <a:t>Yes</a:t>
            </a:r>
            <a:endParaRPr lang="en-US" sz="1100" dirty="0"/>
          </a:p>
        </p:txBody>
      </p:sp>
      <p:sp>
        <p:nvSpPr>
          <p:cNvPr id="15" name="Text 12"/>
          <p:cNvSpPr txBox="1"/>
          <p:nvPr/>
        </p:nvSpPr>
        <p:spPr>
          <a:xfrm>
            <a:off x="8458200" y="2926080"/>
            <a:ext cx="3017520" cy="292608"/>
          </a:xfrm>
          <a:prstGeom prst="rect">
            <a:avLst/>
          </a:prstGeom>
          <a:noFill/>
          <a:ln/>
        </p:spPr>
        <p:txBody>
          <a:bodyPr wrap="square" lIns="0" tIns="0" rIns="0" bIns="0" rtlCol="0" anchor="ctr"/>
          <a:lstStyle/>
          <a:p>
            <a:pPr indent="0" marL="0">
              <a:buNone/>
            </a:pPr>
            <a:r>
              <a:rPr lang="en-US" sz="1200" dirty="0">
                <a:solidFill>
                  <a:schemeClr val="tx1"/>
                </a:solidFill>
              </a:rPr>
              <a:t>Access to the economic buyer</a:t>
            </a:r>
            <a:endParaRPr lang="en-US" sz="1200" dirty="0"/>
          </a:p>
        </p:txBody>
      </p:sp>
      <p:sp>
        <p:nvSpPr>
          <p:cNvPr id="16" name="Test dot 4"/>
          <p:cNvSpPr/>
          <p:nvPr/>
        </p:nvSpPr>
        <p:spPr>
          <a:xfrm>
            <a:off x="8092440" y="3319272"/>
            <a:ext cx="237744" cy="237744"/>
          </a:xfrm>
          <a:prstGeom prst="ellipse">
            <a:avLst/>
          </a:prstGeom>
          <a:solidFill>
            <a:schemeClr val="accent3"/>
          </a:solidFill>
          <a:ln w="12700">
            <a:solidFill>
              <a:schemeClr val="accent3"/>
            </a:solidFill>
            <a:prstDash val="solid"/>
          </a:ln>
        </p:spPr>
      </p:sp>
      <p:sp>
        <p:nvSpPr>
          <p:cNvPr id="17" name="Test mark 4"/>
          <p:cNvSpPr txBox="1"/>
          <p:nvPr/>
        </p:nvSpPr>
        <p:spPr>
          <a:xfrm>
            <a:off x="8092440" y="3319272"/>
            <a:ext cx="237744" cy="237744"/>
          </a:xfrm>
          <a:prstGeom prst="rect">
            <a:avLst/>
          </a:prstGeom>
          <a:noFill/>
          <a:ln/>
        </p:spPr>
        <p:txBody>
          <a:bodyPr wrap="square" lIns="0" tIns="0" rIns="0" bIns="0" rtlCol="0" anchor="ctr"/>
          <a:lstStyle/>
          <a:p>
            <a:pPr algn="ctr" indent="0" marL="0">
              <a:buNone/>
            </a:pPr>
            <a:r>
              <a:rPr lang="en-US" sz="1100" b="1" dirty="0">
                <a:solidFill>
                  <a:schemeClr val="bg1"/>
                </a:solidFill>
              </a:rPr>
              <a:t>Yes</a:t>
            </a:r>
            <a:endParaRPr lang="en-US" sz="1100" dirty="0"/>
          </a:p>
        </p:txBody>
      </p:sp>
      <p:sp>
        <p:nvSpPr>
          <p:cNvPr id="18" name="Text 15"/>
          <p:cNvSpPr txBox="1"/>
          <p:nvPr/>
        </p:nvSpPr>
        <p:spPr>
          <a:xfrm>
            <a:off x="8458200" y="3291840"/>
            <a:ext cx="3017520" cy="292608"/>
          </a:xfrm>
          <a:prstGeom prst="rect">
            <a:avLst/>
          </a:prstGeom>
          <a:noFill/>
          <a:ln/>
        </p:spPr>
        <p:txBody>
          <a:bodyPr wrap="square" lIns="0" tIns="0" rIns="0" bIns="0" rtlCol="0" anchor="ctr"/>
          <a:lstStyle/>
          <a:p>
            <a:pPr indent="0" marL="0">
              <a:buNone/>
            </a:pPr>
            <a:r>
              <a:rPr lang="en-US" sz="1200" dirty="0">
                <a:solidFill>
                  <a:schemeClr val="tx1"/>
                </a:solidFill>
              </a:rPr>
              <a:t>Deal survives if he leaves</a:t>
            </a:r>
            <a:endParaRPr lang="en-US" sz="1200" dirty="0"/>
          </a:p>
        </p:txBody>
      </p:sp>
      <p:sp>
        <p:nvSpPr>
          <p:cNvPr id="19" name="Test dot 5"/>
          <p:cNvSpPr/>
          <p:nvPr/>
        </p:nvSpPr>
        <p:spPr>
          <a:xfrm>
            <a:off x="8092440" y="3685032"/>
            <a:ext cx="237744" cy="237744"/>
          </a:xfrm>
          <a:prstGeom prst="ellipse">
            <a:avLst/>
          </a:prstGeom>
          <a:solidFill>
            <a:schemeClr val="accent4"/>
          </a:solidFill>
          <a:ln w="12700">
            <a:solidFill>
              <a:schemeClr val="accent4"/>
            </a:solidFill>
            <a:prstDash val="solid"/>
          </a:ln>
        </p:spPr>
      </p:sp>
      <p:sp>
        <p:nvSpPr>
          <p:cNvPr id="20" name="Test mark 5"/>
          <p:cNvSpPr txBox="1"/>
          <p:nvPr/>
        </p:nvSpPr>
        <p:spPr>
          <a:xfrm>
            <a:off x="8092440" y="3685032"/>
            <a:ext cx="237744" cy="237744"/>
          </a:xfrm>
          <a:prstGeom prst="rect">
            <a:avLst/>
          </a:prstGeom>
          <a:noFill/>
          <a:ln/>
        </p:spPr>
        <p:txBody>
          <a:bodyPr wrap="square" lIns="0" tIns="0" rIns="0" bIns="0" rtlCol="0" anchor="ctr"/>
          <a:lstStyle/>
          <a:p>
            <a:pPr algn="ctr" indent="0" marL="0">
              <a:buNone/>
            </a:pPr>
            <a:r>
              <a:rPr lang="en-US" sz="1100" b="1" dirty="0">
                <a:solidFill>
                  <a:schemeClr val="tx1"/>
                </a:solidFill>
              </a:rPr>
              <a:t>No</a:t>
            </a:r>
            <a:endParaRPr lang="en-US" sz="1100" dirty="0"/>
          </a:p>
        </p:txBody>
      </p:sp>
      <p:sp>
        <p:nvSpPr>
          <p:cNvPr id="21" name="Text 18"/>
          <p:cNvSpPr txBox="1"/>
          <p:nvPr/>
        </p:nvSpPr>
        <p:spPr>
          <a:xfrm>
            <a:off x="8458200" y="3657600"/>
            <a:ext cx="3017520" cy="292608"/>
          </a:xfrm>
          <a:prstGeom prst="rect">
            <a:avLst/>
          </a:prstGeom>
          <a:noFill/>
          <a:ln/>
        </p:spPr>
        <p:txBody>
          <a:bodyPr wrap="square" lIns="0" tIns="0" rIns="0" bIns="0" rtlCol="0" anchor="ctr"/>
          <a:lstStyle/>
          <a:p>
            <a:pPr indent="0" marL="0">
              <a:buNone/>
            </a:pPr>
            <a:r>
              <a:rPr lang="en-US" sz="1200" dirty="0">
                <a:solidFill>
                  <a:schemeClr val="tx1"/>
                </a:solidFill>
              </a:rPr>
              <a:t>Equipped by us with a business case</a:t>
            </a:r>
            <a:endParaRPr lang="en-US" sz="1200" dirty="0"/>
          </a:p>
        </p:txBody>
      </p:sp>
      <p:sp>
        <p:nvSpPr>
          <p:cNvPr id="22" name="Text 19"/>
          <p:cNvSpPr txBox="1"/>
          <p:nvPr/>
        </p:nvSpPr>
        <p:spPr>
          <a:xfrm>
            <a:off x="8092440" y="4114800"/>
            <a:ext cx="3291840" cy="868680"/>
          </a:xfrm>
          <a:prstGeom prst="rect">
            <a:avLst/>
          </a:prstGeom>
          <a:noFill/>
          <a:ln/>
        </p:spPr>
        <p:txBody>
          <a:bodyPr wrap="square" lIns="0" tIns="0" rIns="0" bIns="0" rtlCol="0" anchor="t"/>
          <a:lstStyle/>
          <a:p>
            <a:pPr indent="0" marL="0">
              <a:buNone/>
            </a:pPr>
            <a:r>
              <a:rPr lang="en-US" sz="1200" dirty="0">
                <a:solidFill>
                  <a:schemeClr val="tx1"/>
                </a:solidFill>
              </a:rPr>
              <a:t>Gap to close: no business case or baselined metric has gone to Tom, and no ask that costs him anything has been made.</a:t>
            </a:r>
            <a:endParaRPr lang="en-US" sz="1200" dirty="0"/>
          </a:p>
        </p:txBody>
      </p:sp>
      <p:sp>
        <p:nvSpPr>
          <p:cNvPr id="23" name="Text 20"/>
          <p:cNvSpPr txBox="1"/>
          <p:nvPr/>
        </p:nvSpPr>
        <p:spPr>
          <a:xfrm>
            <a:off x="8092440" y="5074920"/>
            <a:ext cx="3291840" cy="822960"/>
          </a:xfrm>
          <a:prstGeom prst="rect">
            <a:avLst/>
          </a:prstGeom>
          <a:noFill/>
          <a:ln/>
        </p:spPr>
        <p:txBody>
          <a:bodyPr wrap="square" lIns="0" tIns="0" rIns="0" bIns="0" rtlCol="0" anchor="t"/>
          <a:lstStyle/>
          <a:p>
            <a:pPr indent="0" marL="0">
              <a:buNone/>
            </a:pPr>
            <a:r>
              <a:rPr lang="en-US" sz="1200" b="1" dirty="0">
                <a:solidFill>
                  <a:schemeClr val="tx2"/>
                </a:solidFill>
              </a:rPr>
              <a:t>Champion test: Volunteered, not asked. Status shown as Proposed (next slide).</a:t>
            </a:r>
            <a:endParaRPr lang="en-US" sz="1200" dirty="0"/>
          </a:p>
        </p:txBody>
      </p:sp>
      <p:sp>
        <p:nvSpPr>
          <p:cNvPr id="25" name="Slide Number Placeholder 0"/>
          <p:cNvSpPr>
            <a:spLocks noGrp="1"/>
          </p:cNvSpPr>
          <p:nvPr>
            <p:ph type="sldNum" sz="quarter" idx="4294967295"/>
          </p:nvPr>
        </p:nvSpPr>
        <p:spPr>
          <a:xfrm>
            <a:off x="11247120" y="6419088"/>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000" b="1" dirty="0">
                <a:solidFill>
                  <a:schemeClr val="tx1"/>
                </a:solidFill>
              </a:rPr>
              <a:t>Threading and the champion test</a:t>
            </a:r>
            <a:endParaRPr lang="en-US" sz="3000" dirty="0"/>
          </a:p>
        </p:txBody>
      </p:sp>
      <p:graphicFrame>
        <p:nvGraphicFramePr>
          <p:cNvPr id="3" name="Threading chart" descr=""/>
          <p:cNvGraphicFramePr/>
          <p:nvPr/>
        </p:nvGraphicFramePr>
        <p:xfrm>
          <a:off x="548640" y="1188720"/>
          <a:ext cx="5852160" cy="3749040"/>
        </p:xfrm>
        <a:graphic xmlns:a="http://schemas.openxmlformats.org/drawingml/2006/main">
          <a:graphicData uri="http://schemas.openxmlformats.org/drawingml/2006/chart">
            <c:chart xmlns:c="http://schemas.openxmlformats.org/drawingml/2006/chart" r:id="rId1"/>
          </a:graphicData>
        </a:graphic>
      </p:graphicFrame>
      <p:sp>
        <p:nvSpPr>
          <p:cNvPr id="4" name="Threading notes"/>
          <p:cNvSpPr txBox="1"/>
          <p:nvPr/>
        </p:nvSpPr>
        <p:spPr>
          <a:xfrm>
            <a:off x="548640" y="5029200"/>
            <a:ext cx="5852160" cy="128016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chemeClr val="tx1"/>
                </a:solidFill>
              </a:rPr>
              <a:t>Tom is in 6 of 7 records, which meets the single-threading flag. In context: Raquel is in 5 of 7 and has written directly (9/29), and Nate has written directly (9/18).</a:t>
            </a:r>
            <a:endParaRPr lang="en-US" sz="1200" dirty="0"/>
          </a:p>
          <a:p>
            <a:pPr marL="342900" indent="-342900">
              <a:spcAft>
                <a:spcPts val="500"/>
              </a:spcAft>
              <a:buSzPct val="100000"/>
              <a:buChar char="•"/>
            </a:pPr>
            <a:r>
              <a:rPr lang="en-US" sz="1200" dirty="0">
                <a:solidFill>
                  <a:schemeClr val="tx1"/>
                </a:solidFill>
              </a:rPr>
              <a:t>Ian and Dr. Cho have each been in one record. Last direct contact: Ian 9/10, Dr. Cho 8/6.</a:t>
            </a:r>
            <a:endParaRPr lang="en-US" sz="1200" dirty="0"/>
          </a:p>
          <a:p>
            <a:pPr marL="342900" indent="-342900">
              <a:spcAft>
                <a:spcPts val="500"/>
              </a:spcAft>
              <a:buSzPct val="100000"/>
              <a:buChar char="•"/>
            </a:pPr>
            <a:r>
              <a:rPr lang="en-US" sz="1200" dirty="0">
                <a:solidFill>
                  <a:schemeClr val="tx1"/>
                </a:solidFill>
              </a:rPr>
              <a:t>On our side only Maya appears in the record. Nobody from Orbit has met Ian, Dr. Cho or Nate outside a group call that included Tom.</a:t>
            </a:r>
            <a:endParaRPr lang="en-US" sz="1200" dirty="0"/>
          </a:p>
        </p:txBody>
      </p:sp>
      <p:sp>
        <p:nvSpPr>
          <p:cNvPr id="5" name="Champion test card"/>
          <p:cNvSpPr/>
          <p:nvPr/>
        </p:nvSpPr>
        <p:spPr>
          <a:xfrm>
            <a:off x="6675120" y="1188720"/>
            <a:ext cx="4937760" cy="5074920"/>
          </a:xfrm>
          <a:prstGeom prst="roundRect">
            <a:avLst>
              <a:gd name="adj" fmla="val 1481"/>
            </a:avLst>
          </a:prstGeom>
          <a:solidFill>
            <a:schemeClr val="bg2"/>
          </a:solidFill>
          <a:ln w="12700">
            <a:solidFill>
              <a:schemeClr val="bg2"/>
            </a:solidFill>
            <a:prstDash val="solid"/>
          </a:ln>
        </p:spPr>
      </p:sp>
      <p:sp>
        <p:nvSpPr>
          <p:cNvPr id="6" name="Text 3"/>
          <p:cNvSpPr txBox="1"/>
          <p:nvPr/>
        </p:nvSpPr>
        <p:spPr>
          <a:xfrm>
            <a:off x="6903720" y="1325880"/>
            <a:ext cx="4480560" cy="274320"/>
          </a:xfrm>
          <a:prstGeom prst="rect">
            <a:avLst/>
          </a:prstGeom>
          <a:noFill/>
          <a:ln/>
        </p:spPr>
        <p:txBody>
          <a:bodyPr wrap="square" lIns="0" tIns="0" rIns="0" bIns="0" rtlCol="0" anchor="ctr"/>
          <a:lstStyle/>
          <a:p>
            <a:pPr indent="0" marL="0">
              <a:buNone/>
            </a:pPr>
            <a:r>
              <a:rPr lang="en-US" sz="1200" dirty="0">
                <a:solidFill>
                  <a:schemeClr val="accent6"/>
                </a:solidFill>
              </a:rPr>
              <a:t>Champion test</a:t>
            </a:r>
            <a:endParaRPr lang="en-US" sz="1200" dirty="0"/>
          </a:p>
        </p:txBody>
      </p:sp>
      <p:sp>
        <p:nvSpPr>
          <p:cNvPr id="7" name="Test status"/>
          <p:cNvSpPr txBox="1"/>
          <p:nvPr/>
        </p:nvSpPr>
        <p:spPr>
          <a:xfrm>
            <a:off x="6903720" y="1600200"/>
            <a:ext cx="4480560" cy="457200"/>
          </a:xfrm>
          <a:prstGeom prst="rect">
            <a:avLst/>
          </a:prstGeom>
          <a:noFill/>
          <a:ln/>
        </p:spPr>
        <p:txBody>
          <a:bodyPr wrap="square" lIns="0" tIns="0" rIns="0" bIns="0" rtlCol="0" anchor="ctr"/>
          <a:lstStyle/>
          <a:p>
            <a:pPr indent="0" marL="0">
              <a:buNone/>
            </a:pPr>
            <a:r>
              <a:rPr lang="en-US" sz="2200" b="1" dirty="0">
                <a:solidFill>
                  <a:schemeClr val="tx2"/>
                </a:solidFill>
              </a:rPr>
              <a:t>Volunteered, not asked: Proposed</a:t>
            </a:r>
            <a:endParaRPr lang="en-US" sz="2200" dirty="0"/>
          </a:p>
        </p:txBody>
      </p:sp>
      <p:sp>
        <p:nvSpPr>
          <p:cNvPr id="8" name="Test evidence"/>
          <p:cNvSpPr txBox="1"/>
          <p:nvPr/>
        </p:nvSpPr>
        <p:spPr>
          <a:xfrm>
            <a:off x="6903720" y="2194560"/>
            <a:ext cx="4480560" cy="173736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chemeClr val="tx1"/>
                </a:solidFill>
              </a:rPr>
              <a:t>8/27: Tom offered to set up time with Ian rather than send a one-pager. It happened 9/10.</a:t>
            </a:r>
            <a:endParaRPr lang="en-US" sz="1200" dirty="0"/>
          </a:p>
          <a:p>
            <a:pPr marL="342900" indent="-342900">
              <a:spcAft>
                <a:spcPts val="500"/>
              </a:spcAft>
              <a:buSzPct val="100000"/>
              <a:buChar char="•"/>
            </a:pPr>
            <a:r>
              <a:rPr lang="en-US" sz="1200" dirty="0">
                <a:solidFill>
                  <a:schemeClr val="tx1"/>
                </a:solidFill>
              </a:rPr>
              <a:t>9/17: Tom presented to leadership. Reported by Tom in his 9/18 email.</a:t>
            </a:r>
            <a:endParaRPr lang="en-US" sz="1200" dirty="0"/>
          </a:p>
          <a:p>
            <a:pPr marL="342900" indent="-342900">
              <a:spcAft>
                <a:spcPts val="500"/>
              </a:spcAft>
              <a:buSzPct val="100000"/>
              <a:buChar char="•"/>
            </a:pPr>
            <a:r>
              <a:rPr lang="en-US" sz="1200" dirty="0">
                <a:solidFill>
                  <a:schemeClr val="tx1"/>
                </a:solidFill>
              </a:rPr>
              <a:t>In both cases the idea was Tom's. Neither counts as a pass, only as willingness.</a:t>
            </a:r>
            <a:endParaRPr lang="en-US" sz="1200" dirty="0"/>
          </a:p>
        </p:txBody>
      </p:sp>
      <p:sp>
        <p:nvSpPr>
          <p:cNvPr id="9" name="Text 6"/>
          <p:cNvSpPr txBox="1"/>
          <p:nvPr/>
        </p:nvSpPr>
        <p:spPr>
          <a:xfrm>
            <a:off x="6903720" y="3977640"/>
            <a:ext cx="4480560" cy="274320"/>
          </a:xfrm>
          <a:prstGeom prst="rect">
            <a:avLst/>
          </a:prstGeom>
          <a:noFill/>
          <a:ln/>
        </p:spPr>
        <p:txBody>
          <a:bodyPr wrap="square" lIns="0" tIns="0" rIns="0" bIns="0" rtlCol="0" anchor="ctr"/>
          <a:lstStyle/>
          <a:p>
            <a:pPr indent="0" marL="0">
              <a:buNone/>
            </a:pPr>
            <a:r>
              <a:rPr lang="en-US" sz="1400" b="1" dirty="0">
                <a:solidFill>
                  <a:schemeClr val="accent2"/>
                </a:solidFill>
              </a:rPr>
              <a:t>Proposed ask, due Fri 10/9</a:t>
            </a:r>
            <a:endParaRPr lang="en-US" sz="1400" dirty="0"/>
          </a:p>
        </p:txBody>
      </p:sp>
      <p:sp>
        <p:nvSpPr>
          <p:cNvPr id="10" name="Test ask"/>
          <p:cNvSpPr txBox="1"/>
          <p:nvPr/>
        </p:nvSpPr>
        <p:spPr>
          <a:xfrm>
            <a:off x="6903720" y="4297680"/>
            <a:ext cx="4480560" cy="1783080"/>
          </a:xfrm>
          <a:prstGeom prst="rect">
            <a:avLst/>
          </a:prstGeom>
          <a:noFill/>
          <a:ln/>
        </p:spPr>
        <p:txBody>
          <a:bodyPr wrap="square" lIns="0" tIns="0" rIns="0" bIns="0" rtlCol="0" anchor="t"/>
          <a:lstStyle/>
          <a:p>
            <a:pPr indent="0" marL="0">
              <a:buNone/>
            </a:pPr>
            <a:r>
              <a:rPr lang="en-US" sz="1200" dirty="0">
                <a:solidFill>
                  <a:schemeClr val="tx1"/>
                </a:solidFill>
              </a:rPr>
              <a:t>Ask Tom to bring Ian into the payment-terms call, or to get Ian's position on terms in writing, by Fri 10/9. It fits the open gap: Ian has had one touch with us and his support is conditional on terms. It costs Tom a request to his CFO, and the result is verifiable.</a:t>
            </a:r>
            <a:endParaRPr lang="en-US" sz="1200" dirty="0"/>
          </a:p>
        </p:txBody>
      </p:sp>
      <p:sp>
        <p:nvSpPr>
          <p:cNvPr id="25" name="Slide Number Placeholder 0"/>
          <p:cNvSpPr>
            <a:spLocks noGrp="1"/>
          </p:cNvSpPr>
          <p:nvPr>
            <p:ph type="sldNum" sz="quarter" idx="4294967295"/>
          </p:nvPr>
        </p:nvSpPr>
        <p:spPr>
          <a:xfrm>
            <a:off x="11247120" y="6419088"/>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000" b="1" dirty="0">
                <a:solidFill>
                  <a:schemeClr val="tx1"/>
                </a:solidFill>
              </a:rPr>
              <a:t>Stage, Close Date and Forecast Category</a:t>
            </a:r>
            <a:endParaRPr lang="en-US" sz="3000" dirty="0"/>
          </a:p>
        </p:txBody>
      </p:sp>
      <p:sp>
        <p:nvSpPr>
          <p:cNvPr id="3" name="Text 1"/>
          <p:cNvSpPr txBox="1"/>
          <p:nvPr/>
        </p:nvSpPr>
        <p:spPr>
          <a:xfrm>
            <a:off x="548640" y="1143000"/>
            <a:ext cx="7315200" cy="274320"/>
          </a:xfrm>
          <a:prstGeom prst="rect">
            <a:avLst/>
          </a:prstGeom>
          <a:noFill/>
          <a:ln/>
        </p:spPr>
        <p:txBody>
          <a:bodyPr wrap="square" lIns="0" tIns="0" rIns="0" bIns="0" rtlCol="0" anchor="ctr"/>
          <a:lstStyle/>
          <a:p>
            <a:pPr indent="0" marL="0">
              <a:buNone/>
            </a:pPr>
            <a:r>
              <a:rPr lang="en-US" sz="1200" b="1" dirty="0">
                <a:solidFill>
                  <a:schemeClr val="accent3"/>
                </a:solidFill>
              </a:rPr>
              <a:t>Done on the plan dates (buyer actions)</a:t>
            </a:r>
            <a:endParaRPr lang="en-US" sz="1200" dirty="0"/>
          </a:p>
        </p:txBody>
      </p:sp>
      <p:sp>
        <p:nvSpPr>
          <p:cNvPr id="4" name="Done card 1"/>
          <p:cNvSpPr/>
          <p:nvPr/>
        </p:nvSpPr>
        <p:spPr>
          <a:xfrm>
            <a:off x="548640" y="1444752"/>
            <a:ext cx="2011680" cy="868680"/>
          </a:xfrm>
          <a:prstGeom prst="roundRect">
            <a:avLst>
              <a:gd name="adj" fmla="val 8421"/>
            </a:avLst>
          </a:prstGeom>
          <a:solidFill>
            <a:schemeClr val="bg2"/>
          </a:solidFill>
          <a:ln w="12700">
            <a:solidFill>
              <a:schemeClr val="bg2"/>
            </a:solidFill>
            <a:prstDash val="solid"/>
          </a:ln>
        </p:spPr>
      </p:sp>
      <p:sp>
        <p:nvSpPr>
          <p:cNvPr id="5" name="Text 3"/>
          <p:cNvSpPr txBox="1"/>
          <p:nvPr/>
        </p:nvSpPr>
        <p:spPr>
          <a:xfrm>
            <a:off x="658368" y="1481328"/>
            <a:ext cx="1792224" cy="795528"/>
          </a:xfrm>
          <a:prstGeom prst="rect">
            <a:avLst/>
          </a:prstGeom>
          <a:noFill/>
          <a:ln/>
        </p:spPr>
        <p:txBody>
          <a:bodyPr wrap="square" lIns="0" tIns="0" rIns="0" bIns="0" rtlCol="0" anchor="ctr"/>
          <a:lstStyle/>
          <a:p>
            <a:pPr indent="0" marL="0">
              <a:buNone/>
            </a:pPr>
            <a:r>
              <a:rPr lang="en-US" sz="1400" b="1" dirty="0">
                <a:solidFill>
                  <a:schemeClr val="accent3"/>
                </a:solidFill>
              </a:rPr>
              <a:t>9/10</a:t>
            </a:r>
            <a:endParaRPr lang="en-US" sz="1400" dirty="0"/>
          </a:p>
          <a:p>
            <a:pPr indent="0" marL="0">
              <a:buNone/>
            </a:pPr>
            <a:r>
              <a:rPr lang="en-US" sz="1200" dirty="0">
                <a:solidFill>
                  <a:schemeClr val="tx1"/>
                </a:solidFill>
              </a:rPr>
              <a:t>Finance call with Ian</a:t>
            </a:r>
            <a:endParaRPr lang="en-US" sz="1400" dirty="0"/>
          </a:p>
        </p:txBody>
      </p:sp>
      <p:sp>
        <p:nvSpPr>
          <p:cNvPr id="6" name="Done card 2"/>
          <p:cNvSpPr/>
          <p:nvPr/>
        </p:nvSpPr>
        <p:spPr>
          <a:xfrm>
            <a:off x="2811780" y="1444752"/>
            <a:ext cx="2011680" cy="868680"/>
          </a:xfrm>
          <a:prstGeom prst="roundRect">
            <a:avLst>
              <a:gd name="adj" fmla="val 8421"/>
            </a:avLst>
          </a:prstGeom>
          <a:solidFill>
            <a:schemeClr val="bg2"/>
          </a:solidFill>
          <a:ln w="12700">
            <a:solidFill>
              <a:schemeClr val="bg2"/>
            </a:solidFill>
            <a:prstDash val="solid"/>
          </a:ln>
        </p:spPr>
      </p:sp>
      <p:sp>
        <p:nvSpPr>
          <p:cNvPr id="7" name="Text 5"/>
          <p:cNvSpPr txBox="1"/>
          <p:nvPr/>
        </p:nvSpPr>
        <p:spPr>
          <a:xfrm>
            <a:off x="2921508" y="1481328"/>
            <a:ext cx="1792224" cy="795528"/>
          </a:xfrm>
          <a:prstGeom prst="rect">
            <a:avLst/>
          </a:prstGeom>
          <a:noFill/>
          <a:ln/>
        </p:spPr>
        <p:txBody>
          <a:bodyPr wrap="square" lIns="0" tIns="0" rIns="0" bIns="0" rtlCol="0" anchor="ctr"/>
          <a:lstStyle/>
          <a:p>
            <a:pPr indent="0" marL="0">
              <a:buNone/>
            </a:pPr>
            <a:r>
              <a:rPr lang="en-US" sz="1400" b="1" dirty="0">
                <a:solidFill>
                  <a:schemeClr val="accent3"/>
                </a:solidFill>
              </a:rPr>
              <a:t>9/18</a:t>
            </a:r>
            <a:endParaRPr lang="en-US" sz="1400" dirty="0"/>
          </a:p>
          <a:p>
            <a:pPr indent="0" marL="0">
              <a:buNone/>
            </a:pPr>
            <a:r>
              <a:rPr lang="en-US" sz="1200" dirty="0">
                <a:solidFill>
                  <a:schemeClr val="tx1"/>
                </a:solidFill>
              </a:rPr>
              <a:t>Security accepted by Nate</a:t>
            </a:r>
            <a:endParaRPr lang="en-US" sz="1400" dirty="0"/>
          </a:p>
        </p:txBody>
      </p:sp>
      <p:sp>
        <p:nvSpPr>
          <p:cNvPr id="8" name="Done card 3"/>
          <p:cNvSpPr/>
          <p:nvPr/>
        </p:nvSpPr>
        <p:spPr>
          <a:xfrm>
            <a:off x="5074920" y="1444752"/>
            <a:ext cx="2011680" cy="868680"/>
          </a:xfrm>
          <a:prstGeom prst="roundRect">
            <a:avLst>
              <a:gd name="adj" fmla="val 8421"/>
            </a:avLst>
          </a:prstGeom>
          <a:solidFill>
            <a:schemeClr val="bg2"/>
          </a:solidFill>
          <a:ln w="12700">
            <a:solidFill>
              <a:schemeClr val="bg2"/>
            </a:solidFill>
            <a:prstDash val="solid"/>
          </a:ln>
        </p:spPr>
      </p:sp>
      <p:sp>
        <p:nvSpPr>
          <p:cNvPr id="9" name="Text 7"/>
          <p:cNvSpPr txBox="1"/>
          <p:nvPr/>
        </p:nvSpPr>
        <p:spPr>
          <a:xfrm>
            <a:off x="5184648" y="1481328"/>
            <a:ext cx="1792224" cy="795528"/>
          </a:xfrm>
          <a:prstGeom prst="rect">
            <a:avLst/>
          </a:prstGeom>
          <a:noFill/>
          <a:ln/>
        </p:spPr>
        <p:txBody>
          <a:bodyPr wrap="square" lIns="0" tIns="0" rIns="0" bIns="0" rtlCol="0" anchor="ctr"/>
          <a:lstStyle/>
          <a:p>
            <a:pPr indent="0" marL="0">
              <a:buNone/>
            </a:pPr>
            <a:r>
              <a:rPr lang="en-US" sz="1400" b="1" dirty="0">
                <a:solidFill>
                  <a:schemeClr val="accent3"/>
                </a:solidFill>
              </a:rPr>
              <a:t>9/24</a:t>
            </a:r>
            <a:endParaRPr lang="en-US" sz="1400" dirty="0"/>
          </a:p>
          <a:p>
            <a:pPr indent="0" marL="0">
              <a:buNone/>
            </a:pPr>
            <a:r>
              <a:rPr lang="en-US" sz="1200" dirty="0">
                <a:solidFill>
                  <a:schemeClr val="tx1"/>
                </a:solidFill>
              </a:rPr>
              <a:t>Agreement sent</a:t>
            </a:r>
            <a:endParaRPr lang="en-US" sz="1400" dirty="0"/>
          </a:p>
        </p:txBody>
      </p:sp>
      <p:sp>
        <p:nvSpPr>
          <p:cNvPr id="10" name="Done card 4"/>
          <p:cNvSpPr/>
          <p:nvPr/>
        </p:nvSpPr>
        <p:spPr>
          <a:xfrm>
            <a:off x="7338060" y="1444752"/>
            <a:ext cx="2011680" cy="868680"/>
          </a:xfrm>
          <a:prstGeom prst="roundRect">
            <a:avLst>
              <a:gd name="adj" fmla="val 8421"/>
            </a:avLst>
          </a:prstGeom>
          <a:solidFill>
            <a:schemeClr val="bg2"/>
          </a:solidFill>
          <a:ln w="12700">
            <a:solidFill>
              <a:schemeClr val="bg2"/>
            </a:solidFill>
            <a:prstDash val="solid"/>
          </a:ln>
        </p:spPr>
      </p:sp>
      <p:sp>
        <p:nvSpPr>
          <p:cNvPr id="11" name="Text 9"/>
          <p:cNvSpPr txBox="1"/>
          <p:nvPr/>
        </p:nvSpPr>
        <p:spPr>
          <a:xfrm>
            <a:off x="7447788" y="1481328"/>
            <a:ext cx="1792224" cy="795528"/>
          </a:xfrm>
          <a:prstGeom prst="rect">
            <a:avLst/>
          </a:prstGeom>
          <a:noFill/>
          <a:ln/>
        </p:spPr>
        <p:txBody>
          <a:bodyPr wrap="square" lIns="0" tIns="0" rIns="0" bIns="0" rtlCol="0" anchor="ctr"/>
          <a:lstStyle/>
          <a:p>
            <a:pPr indent="0" marL="0">
              <a:buNone/>
            </a:pPr>
            <a:r>
              <a:rPr lang="en-US" sz="1400" b="1" dirty="0">
                <a:solidFill>
                  <a:schemeClr val="accent3"/>
                </a:solidFill>
              </a:rPr>
              <a:t>9/29</a:t>
            </a:r>
            <a:endParaRPr lang="en-US" sz="1400" dirty="0"/>
          </a:p>
          <a:p>
            <a:pPr indent="0" marL="0">
              <a:buNone/>
            </a:pPr>
            <a:r>
              <a:rPr lang="en-US" sz="1200" dirty="0">
                <a:solidFill>
                  <a:schemeClr val="tx1"/>
                </a:solidFill>
              </a:rPr>
              <a:t>Redlines back from Raquel</a:t>
            </a:r>
            <a:endParaRPr lang="en-US" sz="1400" dirty="0"/>
          </a:p>
        </p:txBody>
      </p:sp>
      <p:sp>
        <p:nvSpPr>
          <p:cNvPr id="12" name="Done card 5"/>
          <p:cNvSpPr/>
          <p:nvPr/>
        </p:nvSpPr>
        <p:spPr>
          <a:xfrm>
            <a:off x="9601200" y="1444752"/>
            <a:ext cx="2011680" cy="868680"/>
          </a:xfrm>
          <a:prstGeom prst="roundRect">
            <a:avLst>
              <a:gd name="adj" fmla="val 8421"/>
            </a:avLst>
          </a:prstGeom>
          <a:solidFill>
            <a:schemeClr val="bg2"/>
          </a:solidFill>
          <a:ln w="12700">
            <a:solidFill>
              <a:schemeClr val="bg2"/>
            </a:solidFill>
            <a:prstDash val="solid"/>
          </a:ln>
        </p:spPr>
      </p:sp>
      <p:sp>
        <p:nvSpPr>
          <p:cNvPr id="13" name="Text 11"/>
          <p:cNvSpPr txBox="1"/>
          <p:nvPr/>
        </p:nvSpPr>
        <p:spPr>
          <a:xfrm>
            <a:off x="9710928" y="1481328"/>
            <a:ext cx="1792224" cy="795528"/>
          </a:xfrm>
          <a:prstGeom prst="rect">
            <a:avLst/>
          </a:prstGeom>
          <a:noFill/>
          <a:ln/>
        </p:spPr>
        <p:txBody>
          <a:bodyPr wrap="square" lIns="0" tIns="0" rIns="0" bIns="0" rtlCol="0" anchor="ctr"/>
          <a:lstStyle/>
          <a:p>
            <a:pPr indent="0" marL="0">
              <a:buNone/>
            </a:pPr>
            <a:r>
              <a:rPr lang="en-US" sz="1400" b="1" dirty="0">
                <a:solidFill>
                  <a:schemeClr val="accent3"/>
                </a:solidFill>
              </a:rPr>
              <a:t>10/3</a:t>
            </a:r>
            <a:endParaRPr lang="en-US" sz="1400" dirty="0"/>
          </a:p>
          <a:p>
            <a:pPr indent="0" marL="0">
              <a:buNone/>
            </a:pPr>
            <a:r>
              <a:rPr lang="en-US" sz="1200" dirty="0">
                <a:solidFill>
                  <a:schemeClr val="tx1"/>
                </a:solidFill>
              </a:rPr>
              <a:t>Our response sent</a:t>
            </a:r>
            <a:endParaRPr lang="en-US" sz="1400" dirty="0"/>
          </a:p>
        </p:txBody>
      </p:sp>
      <p:sp>
        <p:nvSpPr>
          <p:cNvPr id="14" name="Text 12"/>
          <p:cNvSpPr txBox="1"/>
          <p:nvPr/>
        </p:nvSpPr>
        <p:spPr>
          <a:xfrm>
            <a:off x="548640" y="2423160"/>
            <a:ext cx="7315200" cy="274320"/>
          </a:xfrm>
          <a:prstGeom prst="rect">
            <a:avLst/>
          </a:prstGeom>
          <a:noFill/>
          <a:ln/>
        </p:spPr>
        <p:txBody>
          <a:bodyPr wrap="square" lIns="0" tIns="0" rIns="0" bIns="0" rtlCol="0" anchor="ctr"/>
          <a:lstStyle/>
          <a:p>
            <a:pPr indent="0" marL="0">
              <a:buNone/>
            </a:pPr>
            <a:r>
              <a:rPr lang="en-US" sz="1200" b="1" dirty="0">
                <a:solidFill>
                  <a:schemeClr val="accent2"/>
                </a:solidFill>
              </a:rPr>
              <a:t>Still ahead</a:t>
            </a:r>
            <a:endParaRPr lang="en-US" sz="1200" dirty="0"/>
          </a:p>
        </p:txBody>
      </p:sp>
      <p:sp>
        <p:nvSpPr>
          <p:cNvPr id="15" name="Ahead card 1"/>
          <p:cNvSpPr/>
          <p:nvPr/>
        </p:nvSpPr>
        <p:spPr>
          <a:xfrm>
            <a:off x="548640" y="2724912"/>
            <a:ext cx="1691640" cy="960120"/>
          </a:xfrm>
          <a:prstGeom prst="roundRect">
            <a:avLst>
              <a:gd name="adj" fmla="val 7619"/>
            </a:avLst>
          </a:prstGeom>
          <a:solidFill>
            <a:schemeClr val="bg2"/>
          </a:solidFill>
          <a:ln w="12700">
            <a:solidFill>
              <a:schemeClr val="bg2"/>
            </a:solidFill>
            <a:prstDash val="solid"/>
          </a:ln>
        </p:spPr>
      </p:sp>
      <p:sp>
        <p:nvSpPr>
          <p:cNvPr id="16" name="Text 14"/>
          <p:cNvSpPr txBox="1"/>
          <p:nvPr/>
        </p:nvSpPr>
        <p:spPr>
          <a:xfrm>
            <a:off x="658368" y="2761488"/>
            <a:ext cx="1472184" cy="886968"/>
          </a:xfrm>
          <a:prstGeom prst="rect">
            <a:avLst/>
          </a:prstGeom>
          <a:noFill/>
          <a:ln/>
        </p:spPr>
        <p:txBody>
          <a:bodyPr wrap="square" lIns="0" tIns="0" rIns="0" bIns="0" rtlCol="0" anchor="ctr"/>
          <a:lstStyle/>
          <a:p>
            <a:pPr indent="0" marL="0">
              <a:buNone/>
            </a:pPr>
            <a:r>
              <a:rPr lang="en-US" sz="1400" b="1" dirty="0">
                <a:solidFill>
                  <a:schemeClr val="accent2"/>
                </a:solidFill>
              </a:rPr>
              <a:t>Sat 10/10</a:t>
            </a:r>
            <a:endParaRPr lang="en-US" sz="1400" dirty="0"/>
          </a:p>
          <a:p>
            <a:pPr indent="0" marL="0">
              <a:buNone/>
            </a:pPr>
            <a:r>
              <a:rPr lang="en-US" sz="1200" dirty="0">
                <a:solidFill>
                  <a:schemeClr val="tx1"/>
                </a:solidFill>
              </a:rPr>
              <a:t>Bluebird reply on final language</a:t>
            </a:r>
            <a:endParaRPr lang="en-US" sz="1400" dirty="0"/>
          </a:p>
        </p:txBody>
      </p:sp>
      <p:sp>
        <p:nvSpPr>
          <p:cNvPr id="17" name="Ahead card 2"/>
          <p:cNvSpPr/>
          <p:nvPr/>
        </p:nvSpPr>
        <p:spPr>
          <a:xfrm>
            <a:off x="2423160" y="2724912"/>
            <a:ext cx="1691640" cy="960120"/>
          </a:xfrm>
          <a:prstGeom prst="roundRect">
            <a:avLst>
              <a:gd name="adj" fmla="val 7619"/>
            </a:avLst>
          </a:prstGeom>
          <a:solidFill>
            <a:schemeClr val="bg2"/>
          </a:solidFill>
          <a:ln w="12700">
            <a:solidFill>
              <a:schemeClr val="bg2"/>
            </a:solidFill>
            <a:prstDash val="solid"/>
          </a:ln>
        </p:spPr>
      </p:sp>
      <p:sp>
        <p:nvSpPr>
          <p:cNvPr id="18" name="Text 16"/>
          <p:cNvSpPr txBox="1"/>
          <p:nvPr/>
        </p:nvSpPr>
        <p:spPr>
          <a:xfrm>
            <a:off x="2532888" y="2761488"/>
            <a:ext cx="1472184" cy="886968"/>
          </a:xfrm>
          <a:prstGeom prst="rect">
            <a:avLst/>
          </a:prstGeom>
          <a:noFill/>
          <a:ln/>
        </p:spPr>
        <p:txBody>
          <a:bodyPr wrap="square" lIns="0" tIns="0" rIns="0" bIns="0" rtlCol="0" anchor="ctr"/>
          <a:lstStyle/>
          <a:p>
            <a:pPr indent="0" marL="0">
              <a:buNone/>
            </a:pPr>
            <a:r>
              <a:rPr lang="en-US" sz="1400" b="1" dirty="0">
                <a:solidFill>
                  <a:schemeClr val="accent2"/>
                </a:solidFill>
              </a:rPr>
              <a:t>Fri 10/16</a:t>
            </a:r>
            <a:endParaRPr lang="en-US" sz="1400" dirty="0"/>
          </a:p>
          <a:p>
            <a:pPr indent="0" marL="0">
              <a:buNone/>
            </a:pPr>
            <a:r>
              <a:rPr lang="en-US" sz="1200" dirty="0">
                <a:solidFill>
                  <a:schemeClr val="tx1"/>
                </a:solidFill>
              </a:rPr>
              <a:t>Signature target</a:t>
            </a:r>
            <a:endParaRPr lang="en-US" sz="1400" dirty="0"/>
          </a:p>
        </p:txBody>
      </p:sp>
      <p:sp>
        <p:nvSpPr>
          <p:cNvPr id="19" name="Ahead card 3"/>
          <p:cNvSpPr/>
          <p:nvPr/>
        </p:nvSpPr>
        <p:spPr>
          <a:xfrm>
            <a:off x="4297680" y="2724912"/>
            <a:ext cx="1691640" cy="960120"/>
          </a:xfrm>
          <a:prstGeom prst="roundRect">
            <a:avLst>
              <a:gd name="adj" fmla="val 7619"/>
            </a:avLst>
          </a:prstGeom>
          <a:solidFill>
            <a:schemeClr val="bg2"/>
          </a:solidFill>
          <a:ln w="12700">
            <a:solidFill>
              <a:schemeClr val="bg2"/>
            </a:solidFill>
            <a:prstDash val="solid"/>
          </a:ln>
        </p:spPr>
      </p:sp>
      <p:sp>
        <p:nvSpPr>
          <p:cNvPr id="20" name="Text 18"/>
          <p:cNvSpPr txBox="1"/>
          <p:nvPr/>
        </p:nvSpPr>
        <p:spPr>
          <a:xfrm>
            <a:off x="4407408" y="2761488"/>
            <a:ext cx="1472184" cy="886968"/>
          </a:xfrm>
          <a:prstGeom prst="rect">
            <a:avLst/>
          </a:prstGeom>
          <a:noFill/>
          <a:ln/>
        </p:spPr>
        <p:txBody>
          <a:bodyPr wrap="square" lIns="0" tIns="0" rIns="0" bIns="0" rtlCol="0" anchor="ctr"/>
          <a:lstStyle/>
          <a:p>
            <a:pPr indent="0" marL="0">
              <a:buNone/>
            </a:pPr>
            <a:r>
              <a:rPr lang="en-US" sz="1400" b="1" dirty="0">
                <a:solidFill>
                  <a:schemeClr val="accent2"/>
                </a:solidFill>
              </a:rPr>
              <a:t>Fri 10/23</a:t>
            </a:r>
            <a:endParaRPr lang="en-US" sz="1400" dirty="0"/>
          </a:p>
          <a:p>
            <a:pPr indent="0" marL="0">
              <a:buNone/>
            </a:pPr>
            <a:r>
              <a:rPr lang="en-US" sz="1200" dirty="0">
                <a:solidFill>
                  <a:schemeClr val="tx1"/>
                </a:solidFill>
              </a:rPr>
              <a:t>Close Date</a:t>
            </a:r>
            <a:endParaRPr lang="en-US" sz="1400" dirty="0"/>
          </a:p>
        </p:txBody>
      </p:sp>
      <p:sp>
        <p:nvSpPr>
          <p:cNvPr id="21" name="Ahead card 4"/>
          <p:cNvSpPr/>
          <p:nvPr/>
        </p:nvSpPr>
        <p:spPr>
          <a:xfrm>
            <a:off x="6172200" y="2724912"/>
            <a:ext cx="1691640" cy="960120"/>
          </a:xfrm>
          <a:prstGeom prst="roundRect">
            <a:avLst>
              <a:gd name="adj" fmla="val 7619"/>
            </a:avLst>
          </a:prstGeom>
          <a:solidFill>
            <a:schemeClr val="bg2"/>
          </a:solidFill>
          <a:ln w="12700">
            <a:solidFill>
              <a:schemeClr val="bg2"/>
            </a:solidFill>
            <a:prstDash val="solid"/>
          </a:ln>
        </p:spPr>
      </p:sp>
      <p:sp>
        <p:nvSpPr>
          <p:cNvPr id="22" name="Text 20"/>
          <p:cNvSpPr txBox="1"/>
          <p:nvPr/>
        </p:nvSpPr>
        <p:spPr>
          <a:xfrm>
            <a:off x="6281928" y="2761488"/>
            <a:ext cx="1472184" cy="886968"/>
          </a:xfrm>
          <a:prstGeom prst="rect">
            <a:avLst/>
          </a:prstGeom>
          <a:noFill/>
          <a:ln/>
        </p:spPr>
        <p:txBody>
          <a:bodyPr wrap="square" lIns="0" tIns="0" rIns="0" bIns="0" rtlCol="0" anchor="ctr"/>
          <a:lstStyle/>
          <a:p>
            <a:pPr indent="0" marL="0">
              <a:buNone/>
            </a:pPr>
            <a:r>
              <a:rPr lang="en-US" sz="1400" b="1" dirty="0">
                <a:solidFill>
                  <a:schemeClr val="accent2"/>
                </a:solidFill>
              </a:rPr>
              <a:t>Mon 11/16</a:t>
            </a:r>
            <a:endParaRPr lang="en-US" sz="1400" dirty="0"/>
          </a:p>
          <a:p>
            <a:pPr indent="0" marL="0">
              <a:buNone/>
            </a:pPr>
            <a:r>
              <a:rPr lang="en-US" sz="1200" dirty="0">
                <a:solidFill>
                  <a:schemeClr val="tx1"/>
                </a:solidFill>
              </a:rPr>
              <a:t>Migration done, parallel run</a:t>
            </a:r>
            <a:endParaRPr lang="en-US" sz="1400" dirty="0"/>
          </a:p>
        </p:txBody>
      </p:sp>
      <p:sp>
        <p:nvSpPr>
          <p:cNvPr id="23" name="Ahead card 5"/>
          <p:cNvSpPr/>
          <p:nvPr/>
        </p:nvSpPr>
        <p:spPr>
          <a:xfrm>
            <a:off x="8046720" y="2724912"/>
            <a:ext cx="1691640" cy="960120"/>
          </a:xfrm>
          <a:prstGeom prst="roundRect">
            <a:avLst>
              <a:gd name="adj" fmla="val 7619"/>
            </a:avLst>
          </a:prstGeom>
          <a:solidFill>
            <a:schemeClr val="bg2"/>
          </a:solidFill>
          <a:ln w="12700">
            <a:solidFill>
              <a:schemeClr val="bg2"/>
            </a:solidFill>
            <a:prstDash val="solid"/>
          </a:ln>
        </p:spPr>
      </p:sp>
      <p:sp>
        <p:nvSpPr>
          <p:cNvPr id="24" name="Text 22"/>
          <p:cNvSpPr txBox="1"/>
          <p:nvPr/>
        </p:nvSpPr>
        <p:spPr>
          <a:xfrm>
            <a:off x="8156448" y="2761488"/>
            <a:ext cx="1472184" cy="886968"/>
          </a:xfrm>
          <a:prstGeom prst="rect">
            <a:avLst/>
          </a:prstGeom>
          <a:noFill/>
          <a:ln/>
        </p:spPr>
        <p:txBody>
          <a:bodyPr wrap="square" lIns="0" tIns="0" rIns="0" bIns="0" rtlCol="0" anchor="ctr"/>
          <a:lstStyle/>
          <a:p>
            <a:pPr indent="0" marL="0">
              <a:buNone/>
            </a:pPr>
            <a:r>
              <a:rPr lang="en-US" sz="1400" b="1" dirty="0">
                <a:solidFill>
                  <a:schemeClr val="accent2"/>
                </a:solidFill>
              </a:rPr>
              <a:t>Mon 11/30</a:t>
            </a:r>
            <a:endParaRPr lang="en-US" sz="1400" dirty="0"/>
          </a:p>
          <a:p>
            <a:pPr indent="0" marL="0">
              <a:buNone/>
            </a:pPr>
            <a:r>
              <a:rPr lang="en-US" sz="1200" dirty="0">
                <a:solidFill>
                  <a:schemeClr val="tx1"/>
                </a:solidFill>
              </a:rPr>
              <a:t>Tidewell contract ends</a:t>
            </a:r>
            <a:endParaRPr lang="en-US" sz="1400" dirty="0"/>
          </a:p>
        </p:txBody>
      </p:sp>
      <p:sp>
        <p:nvSpPr>
          <p:cNvPr id="25" name="Ahead card 6"/>
          <p:cNvSpPr/>
          <p:nvPr/>
        </p:nvSpPr>
        <p:spPr>
          <a:xfrm>
            <a:off x="9921240" y="2724912"/>
            <a:ext cx="1691640" cy="960120"/>
          </a:xfrm>
          <a:prstGeom prst="roundRect">
            <a:avLst>
              <a:gd name="adj" fmla="val 7619"/>
            </a:avLst>
          </a:prstGeom>
          <a:solidFill>
            <a:schemeClr val="bg2"/>
          </a:solidFill>
          <a:ln w="12700">
            <a:solidFill>
              <a:schemeClr val="bg2"/>
            </a:solidFill>
            <a:prstDash val="solid"/>
          </a:ln>
        </p:spPr>
      </p:sp>
      <p:sp>
        <p:nvSpPr>
          <p:cNvPr id="26" name="Text 24"/>
          <p:cNvSpPr txBox="1"/>
          <p:nvPr/>
        </p:nvSpPr>
        <p:spPr>
          <a:xfrm>
            <a:off x="10030968" y="2761488"/>
            <a:ext cx="1472184" cy="886968"/>
          </a:xfrm>
          <a:prstGeom prst="rect">
            <a:avLst/>
          </a:prstGeom>
          <a:noFill/>
          <a:ln/>
        </p:spPr>
        <p:txBody>
          <a:bodyPr wrap="square" lIns="0" tIns="0" rIns="0" bIns="0" rtlCol="0" anchor="ctr"/>
          <a:lstStyle/>
          <a:p>
            <a:pPr indent="0" marL="0">
              <a:buNone/>
            </a:pPr>
            <a:r>
              <a:rPr lang="en-US" sz="1400" b="1" dirty="0">
                <a:solidFill>
                  <a:schemeClr val="accent2"/>
                </a:solidFill>
              </a:rPr>
              <a:t>Tue 12/1</a:t>
            </a:r>
            <a:endParaRPr lang="en-US" sz="1400" dirty="0"/>
          </a:p>
          <a:p>
            <a:pPr indent="0" marL="0">
              <a:buNone/>
            </a:pPr>
            <a:r>
              <a:rPr lang="en-US" sz="1200" dirty="0">
                <a:solidFill>
                  <a:schemeClr val="tx1"/>
                </a:solidFill>
              </a:rPr>
              <a:t>Three sites open</a:t>
            </a:r>
            <a:endParaRPr lang="en-US" sz="1400" dirty="0"/>
          </a:p>
        </p:txBody>
      </p:sp>
      <p:sp>
        <p:nvSpPr>
          <p:cNvPr id="27" name="Check card 1"/>
          <p:cNvSpPr/>
          <p:nvPr/>
        </p:nvSpPr>
        <p:spPr>
          <a:xfrm>
            <a:off x="548640" y="3886200"/>
            <a:ext cx="3566160" cy="2377440"/>
          </a:xfrm>
          <a:prstGeom prst="roundRect">
            <a:avLst>
              <a:gd name="adj" fmla="val 3077"/>
            </a:avLst>
          </a:prstGeom>
          <a:solidFill>
            <a:schemeClr val="bg2"/>
          </a:solidFill>
          <a:ln w="12700">
            <a:solidFill>
              <a:schemeClr val="bg2"/>
            </a:solidFill>
            <a:prstDash val="solid"/>
          </a:ln>
        </p:spPr>
      </p:sp>
      <p:sp>
        <p:nvSpPr>
          <p:cNvPr id="28" name="Text 26"/>
          <p:cNvSpPr txBox="1"/>
          <p:nvPr/>
        </p:nvSpPr>
        <p:spPr>
          <a:xfrm>
            <a:off x="731520" y="3977640"/>
            <a:ext cx="3200400" cy="365760"/>
          </a:xfrm>
          <a:prstGeom prst="rect">
            <a:avLst/>
          </a:prstGeom>
          <a:noFill/>
          <a:ln/>
        </p:spPr>
        <p:txBody>
          <a:bodyPr wrap="square" lIns="0" tIns="0" rIns="0" bIns="0" rtlCol="0" anchor="ctr"/>
          <a:lstStyle/>
          <a:p>
            <a:pPr indent="0" marL="0">
              <a:buNone/>
            </a:pPr>
            <a:r>
              <a:rPr lang="en-US" sz="1600" b="1" dirty="0">
                <a:solidFill>
                  <a:schemeClr val="tx2"/>
                </a:solidFill>
              </a:rPr>
              <a:t>Stage: Contract Sent</a:t>
            </a:r>
            <a:endParaRPr lang="en-US" sz="1600" dirty="0"/>
          </a:p>
        </p:txBody>
      </p:sp>
      <p:sp>
        <p:nvSpPr>
          <p:cNvPr id="29" name="Text 27"/>
          <p:cNvSpPr txBox="1"/>
          <p:nvPr/>
        </p:nvSpPr>
        <p:spPr>
          <a:xfrm>
            <a:off x="731520" y="4389120"/>
            <a:ext cx="3200400" cy="1783080"/>
          </a:xfrm>
          <a:prstGeom prst="rect">
            <a:avLst/>
          </a:prstGeom>
          <a:noFill/>
          <a:ln/>
        </p:spPr>
        <p:txBody>
          <a:bodyPr wrap="square" lIns="0" tIns="0" rIns="0" bIns="0" rtlCol="0" anchor="t"/>
          <a:lstStyle/>
          <a:p>
            <a:pPr indent="0" marL="0">
              <a:buNone/>
            </a:pPr>
            <a:r>
              <a:rPr lang="en-US" sz="1200" dirty="0">
                <a:solidFill>
                  <a:schemeClr val="tx1"/>
                </a:solidFill>
              </a:rPr>
              <a:t>The agreement went out 9/24 and redlines have been exchanged twice, so the evidence supports the stage. Exit criteria were not in the snapshot; judged on the plain meaning of the label (assumed).</a:t>
            </a:r>
            <a:endParaRPr lang="en-US" sz="1200" dirty="0"/>
          </a:p>
        </p:txBody>
      </p:sp>
      <p:sp>
        <p:nvSpPr>
          <p:cNvPr id="30" name="Check card 2"/>
          <p:cNvSpPr/>
          <p:nvPr/>
        </p:nvSpPr>
        <p:spPr>
          <a:xfrm>
            <a:off x="4297680" y="3886200"/>
            <a:ext cx="3566160" cy="2377440"/>
          </a:xfrm>
          <a:prstGeom prst="roundRect">
            <a:avLst>
              <a:gd name="adj" fmla="val 3077"/>
            </a:avLst>
          </a:prstGeom>
          <a:solidFill>
            <a:schemeClr val="bg2"/>
          </a:solidFill>
          <a:ln w="12700">
            <a:solidFill>
              <a:schemeClr val="bg2"/>
            </a:solidFill>
            <a:prstDash val="solid"/>
          </a:ln>
        </p:spPr>
      </p:sp>
      <p:sp>
        <p:nvSpPr>
          <p:cNvPr id="31" name="Text 29"/>
          <p:cNvSpPr txBox="1"/>
          <p:nvPr/>
        </p:nvSpPr>
        <p:spPr>
          <a:xfrm>
            <a:off x="4480560" y="3977640"/>
            <a:ext cx="3200400" cy="365760"/>
          </a:xfrm>
          <a:prstGeom prst="rect">
            <a:avLst/>
          </a:prstGeom>
          <a:noFill/>
          <a:ln/>
        </p:spPr>
        <p:txBody>
          <a:bodyPr wrap="square" lIns="0" tIns="0" rIns="0" bIns="0" rtlCol="0" anchor="ctr"/>
          <a:lstStyle/>
          <a:p>
            <a:pPr indent="0" marL="0">
              <a:buNone/>
            </a:pPr>
            <a:r>
              <a:rPr lang="en-US" sz="1600" b="1" dirty="0">
                <a:solidFill>
                  <a:schemeClr val="tx2"/>
                </a:solidFill>
              </a:rPr>
              <a:t>Close Date: Fri 10/23</a:t>
            </a:r>
            <a:endParaRPr lang="en-US" sz="1600" dirty="0"/>
          </a:p>
        </p:txBody>
      </p:sp>
      <p:sp>
        <p:nvSpPr>
          <p:cNvPr id="32" name="Text 30"/>
          <p:cNvSpPr txBox="1"/>
          <p:nvPr/>
        </p:nvSpPr>
        <p:spPr>
          <a:xfrm>
            <a:off x="4480560" y="4389120"/>
            <a:ext cx="3200400" cy="1783080"/>
          </a:xfrm>
          <a:prstGeom prst="rect">
            <a:avLst/>
          </a:prstGeom>
          <a:noFill/>
          <a:ln/>
        </p:spPr>
        <p:txBody>
          <a:bodyPr wrap="square" lIns="0" tIns="0" rIns="0" bIns="0" rtlCol="0" anchor="t"/>
          <a:lstStyle/>
          <a:p>
            <a:pPr indent="0" marL="0">
              <a:buNone/>
            </a:pPr>
            <a:r>
              <a:rPr lang="en-US" sz="1200" dirty="0">
                <a:solidFill>
                  <a:schemeClr val="tx1"/>
                </a:solidFill>
              </a:rPr>
              <a:t>Set 7/8 and not moved. Buyer actions have kept to the plan so far. It equals the plan's contract effective date; the signature target is 10/16. The 10/10 reply date is a Saturday.</a:t>
            </a:r>
            <a:endParaRPr lang="en-US" sz="1200" dirty="0"/>
          </a:p>
        </p:txBody>
      </p:sp>
      <p:sp>
        <p:nvSpPr>
          <p:cNvPr id="33" name="Check card 3"/>
          <p:cNvSpPr/>
          <p:nvPr/>
        </p:nvSpPr>
        <p:spPr>
          <a:xfrm>
            <a:off x="8046720" y="3886200"/>
            <a:ext cx="3566160" cy="2377440"/>
          </a:xfrm>
          <a:prstGeom prst="roundRect">
            <a:avLst>
              <a:gd name="adj" fmla="val 3077"/>
            </a:avLst>
          </a:prstGeom>
          <a:solidFill>
            <a:schemeClr val="bg2"/>
          </a:solidFill>
          <a:ln w="12700">
            <a:solidFill>
              <a:schemeClr val="bg2"/>
            </a:solidFill>
            <a:prstDash val="solid"/>
          </a:ln>
        </p:spPr>
      </p:sp>
      <p:sp>
        <p:nvSpPr>
          <p:cNvPr id="34" name="Text 32"/>
          <p:cNvSpPr txBox="1"/>
          <p:nvPr/>
        </p:nvSpPr>
        <p:spPr>
          <a:xfrm>
            <a:off x="8229600" y="3977640"/>
            <a:ext cx="3200400" cy="365760"/>
          </a:xfrm>
          <a:prstGeom prst="rect">
            <a:avLst/>
          </a:prstGeom>
          <a:noFill/>
          <a:ln/>
        </p:spPr>
        <p:txBody>
          <a:bodyPr wrap="square" lIns="0" tIns="0" rIns="0" bIns="0" rtlCol="0" anchor="ctr"/>
          <a:lstStyle/>
          <a:p>
            <a:pPr indent="0" marL="0">
              <a:buNone/>
            </a:pPr>
            <a:r>
              <a:rPr lang="en-US" sz="1600" b="1" dirty="0">
                <a:solidFill>
                  <a:schemeClr val="tx2"/>
                </a:solidFill>
              </a:rPr>
              <a:t>Forecast: Commit holds</a:t>
            </a:r>
            <a:endParaRPr lang="en-US" sz="1600" dirty="0"/>
          </a:p>
        </p:txBody>
      </p:sp>
      <p:sp>
        <p:nvSpPr>
          <p:cNvPr id="35" name="Text 33"/>
          <p:cNvSpPr txBox="1"/>
          <p:nvPr/>
        </p:nvSpPr>
        <p:spPr>
          <a:xfrm>
            <a:off x="8229600" y="4389120"/>
            <a:ext cx="3200400" cy="1783080"/>
          </a:xfrm>
          <a:prstGeom prst="rect">
            <a:avLst/>
          </a:prstGeom>
          <a:noFill/>
          <a:ln/>
        </p:spPr>
        <p:txBody>
          <a:bodyPr wrap="square" lIns="0" tIns="0" rIns="0" bIns="0" rtlCol="0" anchor="t"/>
          <a:lstStyle/>
          <a:p>
            <a:pPr indent="0" marL="0">
              <a:buNone/>
            </a:pPr>
            <a:r>
              <a:rPr lang="en-US" sz="1200" dirty="0">
                <a:solidFill>
                  <a:schemeClr val="tx1"/>
                </a:solidFill>
              </a:rPr>
              <a:t>Recommended Commit, same as the CRM. Confidence Medium: Raquel is engaged, but the signer and net 60 are open. Drops to Best Case if either is unresolved on Wed 10/14. Category names assumed.</a:t>
            </a:r>
            <a:endParaRPr lang="en-US" sz="1200" dirty="0"/>
          </a:p>
        </p:txBody>
      </p:sp>
      <p:sp>
        <p:nvSpPr>
          <p:cNvPr id="25" name="Slide Number Placeholder 0"/>
          <p:cNvSpPr>
            <a:spLocks noGrp="1"/>
          </p:cNvSpPr>
          <p:nvPr>
            <p:ph type="sldNum" sz="quarter" idx="4294967295"/>
          </p:nvPr>
        </p:nvSpPr>
        <p:spPr>
          <a:xfrm>
            <a:off x="11247120" y="6419088"/>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000" b="1" dirty="0">
                <a:solidFill>
                  <a:schemeClr val="tx1"/>
                </a:solidFill>
              </a:rPr>
              <a:t>CRM versus the record: seven fields to fix</a:t>
            </a:r>
            <a:endParaRPr lang="en-US" sz="3000" dirty="0"/>
          </a:p>
        </p:txBody>
      </p:sp>
      <p:graphicFrame>
        <p:nvGraphicFramePr>
          <p:cNvPr id="8" name="Reconciliation table"/>
          <p:cNvGraphicFramePr>
            <a:graphicFrameLocks noGrp="1"/>
          </p:cNvGraphicFramePr>
          <p:nvPr>
            <p:extLst>
              <p:ext uri="{D42A27DB-BD31-4B8C-83A1-F6EECF244321}">
                <p14:modId xmlns:p14="http://schemas.microsoft.com/office/powerpoint/2010/main" val="1579011935"/>
              </p:ext>
            </p:extLst>
          </p:nvPr>
        </p:nvGraphicFramePr>
        <p:xfrm>
          <a:off x="548640" y="1188720"/>
          <a:ext cx="11064240" cy="914400"/>
        </p:xfrm>
        <a:graphic>
          <a:graphicData uri="http://schemas.openxmlformats.org/drawingml/2006/table">
            <a:tbl>
              <a:tblPr/>
              <a:tblGrid>
                <a:gridCol w="1554480"/>
                <a:gridCol w="3017520"/>
                <a:gridCol w="5120640"/>
                <a:gridCol w="1371600"/>
              </a:tblGrid>
              <a:tr h="320040">
                <a:tc>
                  <a:txBody>
                    <a:bodyPr/>
                    <a:lstStyle/>
                    <a:p>
                      <a:pPr indent="0" marL="0">
                        <a:buNone/>
                      </a:pPr>
                      <a:r>
                        <a:rPr lang="en-US" sz="1100" b="1" dirty="0">
                          <a:solidFill>
                            <a:schemeClr val="bg1"/>
                          </a:solidFill>
                        </a:rPr>
                        <a:t>CRM field</a:t>
                      </a:r>
                      <a:endParaRPr lang="en-US" sz="1100" dirty="0"/>
                    </a:p>
                  </a:txBody>
                  <a:tcPr marL="73152" marR="73152" marT="27432" marB="27432"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chemeClr val="tx2"/>
                    </a:solidFill>
                  </a:tcPr>
                </a:tc>
                <a:tc>
                  <a:txBody>
                    <a:bodyPr/>
                    <a:lstStyle/>
                    <a:p>
                      <a:pPr indent="0" marL="0">
                        <a:buNone/>
                      </a:pPr>
                      <a:r>
                        <a:rPr lang="en-US" sz="1100" b="1" dirty="0">
                          <a:solidFill>
                            <a:schemeClr val="bg1"/>
                          </a:solidFill>
                        </a:rPr>
                        <a:t>CRM value</a:t>
                      </a:r>
                      <a:endParaRPr lang="en-US" sz="1100" dirty="0"/>
                    </a:p>
                  </a:txBody>
                  <a:tcPr marL="73152" marR="73152" marT="27432" marB="27432"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chemeClr val="tx2"/>
                    </a:solidFill>
                  </a:tcPr>
                </a:tc>
                <a:tc>
                  <a:txBody>
                    <a:bodyPr/>
                    <a:lstStyle/>
                    <a:p>
                      <a:pPr indent="0" marL="0">
                        <a:buNone/>
                      </a:pPr>
                      <a:r>
                        <a:rPr lang="en-US" sz="1100" b="1" dirty="0">
                          <a:solidFill>
                            <a:schemeClr val="bg1"/>
                          </a:solidFill>
                        </a:rPr>
                        <a:t>What the record supports</a:t>
                      </a:r>
                      <a:endParaRPr lang="en-US" sz="1100" dirty="0"/>
                    </a:p>
                  </a:txBody>
                  <a:tcPr marL="73152" marR="73152" marT="27432" marB="27432"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chemeClr val="tx2"/>
                    </a:solidFill>
                  </a:tcPr>
                </a:tc>
                <a:tc>
                  <a:txBody>
                    <a:bodyPr/>
                    <a:lstStyle/>
                    <a:p>
                      <a:pPr indent="0" marL="0">
                        <a:buNone/>
                      </a:pPr>
                      <a:r>
                        <a:rPr lang="en-US" sz="1100" b="1" dirty="0">
                          <a:solidFill>
                            <a:schemeClr val="bg1"/>
                          </a:solidFill>
                        </a:rPr>
                        <a:t>Status</a:t>
                      </a:r>
                      <a:endParaRPr lang="en-US" sz="1100" dirty="0"/>
                    </a:p>
                  </a:txBody>
                  <a:tcPr marL="73152" marR="73152" marT="27432" marB="27432"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chemeClr val="tx2"/>
                    </a:solidFill>
                  </a:tcPr>
                </a:tc>
              </a:tr>
              <a:tr h="585216">
                <a:tc>
                  <a:txBody>
                    <a:bodyPr/>
                    <a:lstStyle/>
                    <a:p>
                      <a:pPr indent="0" marL="0">
                        <a:buNone/>
                      </a:pPr>
                      <a:r>
                        <a:rPr lang="en-US" sz="1100" b="1" dirty="0">
                          <a:solidFill>
                            <a:schemeClr val="tx1"/>
                          </a:solidFill>
                        </a:rPr>
                        <a:t>Paper Process</a:t>
                      </a:r>
                      <a:endParaRPr lang="en-US" sz="1100" dirty="0"/>
                    </a:p>
                  </a:txBody>
                  <a:tcPr marL="73152" marR="73152" marT="27432" marB="27432"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tcPr>
                </a:tc>
                <a:tc>
                  <a:txBody>
                    <a:bodyPr/>
                    <a:lstStyle/>
                    <a:p>
                      <a:pPr indent="0" marL="0">
                        <a:buNone/>
                      </a:pPr>
                      <a:r>
                        <a:rPr lang="en-US" sz="1100" dirty="0">
                          <a:solidFill>
                            <a:schemeClr val="tx1"/>
                          </a:solidFill>
                        </a:rPr>
                        <a:t>Raquel signs</a:t>
                      </a:r>
                      <a:endParaRPr lang="en-US" sz="1100" dirty="0"/>
                    </a:p>
                  </a:txBody>
                  <a:tcPr marL="73152" marR="73152" marT="27432" marB="27432"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tcPr>
                </a:tc>
                <a:tc>
                  <a:txBody>
                    <a:bodyPr/>
                    <a:lstStyle/>
                    <a:p>
                      <a:pPr indent="0" marL="0">
                        <a:buNone/>
                      </a:pPr>
                      <a:r>
                        <a:rPr lang="en-US" sz="1100" dirty="0">
                          <a:solidFill>
                            <a:schemeClr val="tx1"/>
                          </a:solidFill>
                        </a:rPr>
                        <a:t>Raquel is confirming with Ian who can sign for Bluebird Dental Holdings LLC (9/29 email).</a:t>
                      </a:r>
                      <a:endParaRPr lang="en-US" sz="1100" dirty="0"/>
                    </a:p>
                  </a:txBody>
                  <a:tcPr marL="73152" marR="73152" marT="27432" marB="27432"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tcPr>
                </a:tc>
                <a:tc>
                  <a:txBody>
                    <a:bodyPr/>
                    <a:lstStyle/>
                    <a:p>
                      <a:pPr algn="ctr" indent="0" marL="0">
                        <a:buNone/>
                      </a:pPr>
                      <a:r>
                        <a:rPr lang="en-US" sz="1100" b="1" dirty="0">
                          <a:solidFill>
                            <a:schemeClr val="bg1"/>
                          </a:solidFill>
                        </a:rPr>
                        <a:t>Unsupported</a:t>
                      </a:r>
                      <a:endParaRPr lang="en-US" sz="1100" dirty="0"/>
                    </a:p>
                  </a:txBody>
                  <a:tcPr marL="73152" marR="73152" marT="27432" marB="27432"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chemeClr val="accent6"/>
                    </a:solidFill>
                  </a:tcPr>
                </a:tc>
              </a:tr>
              <a:tr h="585216">
                <a:tc>
                  <a:txBody>
                    <a:bodyPr/>
                    <a:lstStyle/>
                    <a:p>
                      <a:pPr indent="0" marL="0">
                        <a:buNone/>
                      </a:pPr>
                      <a:r>
                        <a:rPr lang="en-US" sz="1100" b="1" dirty="0">
                          <a:solidFill>
                            <a:schemeClr val="tx1"/>
                          </a:solidFill>
                        </a:rPr>
                        <a:t>Metrics</a:t>
                      </a:r>
                      <a:endParaRPr lang="en-US" sz="1100" dirty="0"/>
                    </a:p>
                  </a:txBody>
                  <a:tcPr marL="73152" marR="73152" marT="27432" marB="27432"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tcPr>
                </a:tc>
                <a:tc>
                  <a:txBody>
                    <a:bodyPr/>
                    <a:lstStyle/>
                    <a:p>
                      <a:pPr indent="0" marL="0">
                        <a:buNone/>
                      </a:pPr>
                      <a:r>
                        <a:rPr lang="en-US" sz="1100" dirty="0">
                          <a:solidFill>
                            <a:schemeClr val="tx1"/>
                          </a:solidFill>
                        </a:rPr>
                        <a:t>No-shows, about 11 percent to under 8 percent</a:t>
                      </a:r>
                      <a:endParaRPr lang="en-US" sz="1100" dirty="0"/>
                    </a:p>
                  </a:txBody>
                  <a:tcPr marL="73152" marR="73152" marT="27432" marB="27432"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tcPr>
                </a:tc>
                <a:tc>
                  <a:txBody>
                    <a:bodyPr/>
                    <a:lstStyle/>
                    <a:p>
                      <a:pPr indent="0" marL="0">
                        <a:buNone/>
                      </a:pPr>
                      <a:r>
                        <a:rPr lang="en-US" sz="1100" dirty="0">
                          <a:solidFill>
                            <a:schemeClr val="tx1"/>
                          </a:solidFill>
                        </a:rPr>
                        <a:t>No call or email mentions no-shows. Buyer measures are double-booking and front-desk hours.</a:t>
                      </a:r>
                      <a:endParaRPr lang="en-US" sz="1100" dirty="0"/>
                    </a:p>
                  </a:txBody>
                  <a:tcPr marL="73152" marR="73152" marT="27432" marB="27432"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tcPr>
                </a:tc>
                <a:tc>
                  <a:txBody>
                    <a:bodyPr/>
                    <a:lstStyle/>
                    <a:p>
                      <a:pPr algn="ctr" indent="0" marL="0">
                        <a:buNone/>
                      </a:pPr>
                      <a:r>
                        <a:rPr lang="en-US" sz="1100" b="1" dirty="0">
                          <a:solidFill>
                            <a:schemeClr val="bg1"/>
                          </a:solidFill>
                        </a:rPr>
                        <a:t>Unsupported</a:t>
                      </a:r>
                      <a:endParaRPr lang="en-US" sz="1100" dirty="0"/>
                    </a:p>
                  </a:txBody>
                  <a:tcPr marL="73152" marR="73152" marT="27432" marB="27432"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chemeClr val="accent6"/>
                    </a:solidFill>
                  </a:tcPr>
                </a:tc>
              </a:tr>
              <a:tr h="585216">
                <a:tc>
                  <a:txBody>
                    <a:bodyPr/>
                    <a:lstStyle/>
                    <a:p>
                      <a:pPr indent="0" marL="0">
                        <a:buNone/>
                      </a:pPr>
                      <a:r>
                        <a:rPr lang="en-US" sz="1100" b="1" dirty="0">
                          <a:solidFill>
                            <a:schemeClr val="tx1"/>
                          </a:solidFill>
                        </a:rPr>
                        <a:t>Next Step</a:t>
                      </a:r>
                      <a:endParaRPr lang="en-US" sz="1100" dirty="0"/>
                    </a:p>
                  </a:txBody>
                  <a:tcPr marL="73152" marR="73152" marT="27432" marB="27432"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tcPr>
                </a:tc>
                <a:tc>
                  <a:txBody>
                    <a:bodyPr/>
                    <a:lstStyle/>
                    <a:p>
                      <a:pPr indent="0" marL="0">
                        <a:buNone/>
                      </a:pPr>
                      <a:r>
                        <a:rPr lang="en-US" sz="1100" dirty="0">
                          <a:solidFill>
                            <a:schemeClr val="tx1"/>
                          </a:solidFill>
                        </a:rPr>
                        <a:t>Customer counsel redlines due back 10/10, then signature</a:t>
                      </a:r>
                      <a:endParaRPr lang="en-US" sz="1100" dirty="0"/>
                    </a:p>
                  </a:txBody>
                  <a:tcPr marL="73152" marR="73152" marT="27432" marB="27432"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tcPr>
                </a:tc>
                <a:tc>
                  <a:txBody>
                    <a:bodyPr/>
                    <a:lstStyle/>
                    <a:p>
                      <a:pPr indent="0" marL="0">
                        <a:buNone/>
                      </a:pPr>
                      <a:r>
                        <a:rPr lang="en-US" sz="1100" dirty="0">
                          <a:solidFill>
                            <a:schemeClr val="tx1"/>
                          </a:solidFill>
                        </a:rPr>
                        <a:t>10/10 is a Saturday. Open items also include net 60 and the signer.</a:t>
                      </a:r>
                      <a:endParaRPr lang="en-US" sz="1100" dirty="0"/>
                    </a:p>
                  </a:txBody>
                  <a:tcPr marL="73152" marR="73152" marT="27432" marB="27432"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tcPr>
                </a:tc>
                <a:tc>
                  <a:txBody>
                    <a:bodyPr/>
                    <a:lstStyle/>
                    <a:p>
                      <a:pPr algn="ctr" indent="0" marL="0">
                        <a:buNone/>
                      </a:pPr>
                      <a:r>
                        <a:rPr lang="en-US" sz="1100" b="1" dirty="0">
                          <a:solidFill>
                            <a:schemeClr val="tx1"/>
                          </a:solidFill>
                        </a:rPr>
                        <a:t>Stale</a:t>
                      </a:r>
                      <a:endParaRPr lang="en-US" sz="1100" dirty="0"/>
                    </a:p>
                  </a:txBody>
                  <a:tcPr marL="73152" marR="73152" marT="27432" marB="27432"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chemeClr val="accent4"/>
                    </a:solidFill>
                  </a:tcPr>
                </a:tc>
              </a:tr>
              <a:tr h="585216">
                <a:tc>
                  <a:txBody>
                    <a:bodyPr/>
                    <a:lstStyle/>
                    <a:p>
                      <a:pPr indent="0" marL="0">
                        <a:buNone/>
                      </a:pPr>
                      <a:r>
                        <a:rPr lang="en-US" sz="1100" b="1" dirty="0">
                          <a:solidFill>
                            <a:schemeClr val="tx1"/>
                          </a:solidFill>
                        </a:rPr>
                        <a:t>Notes, 10/5</a:t>
                      </a:r>
                      <a:endParaRPr lang="en-US" sz="1100" dirty="0"/>
                    </a:p>
                  </a:txBody>
                  <a:tcPr marL="73152" marR="73152" marT="27432" marB="27432"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tcPr>
                </a:tc>
                <a:tc>
                  <a:txBody>
                    <a:bodyPr/>
                    <a:lstStyle/>
                    <a:p>
                      <a:pPr indent="0" marL="0">
                        <a:buNone/>
                      </a:pPr>
                      <a:r>
                        <a:rPr lang="en-US" sz="1100" dirty="0">
                          <a:solidFill>
                            <a:schemeClr val="tx1"/>
                          </a:solidFill>
                        </a:rPr>
                        <a:t>Redlines mostly clean-up on liability cap and data retention</a:t>
                      </a:r>
                      <a:endParaRPr lang="en-US" sz="1100" dirty="0"/>
                    </a:p>
                  </a:txBody>
                  <a:tcPr marL="73152" marR="73152" marT="27432" marB="27432"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tcPr>
                </a:tc>
                <a:tc>
                  <a:txBody>
                    <a:bodyPr/>
                    <a:lstStyle/>
                    <a:p>
                      <a:pPr indent="0" marL="0">
                        <a:buNone/>
                      </a:pPr>
                      <a:r>
                        <a:rPr lang="en-US" sz="1100" dirty="0">
                          <a:solidFill>
                            <a:schemeClr val="tx1"/>
                          </a:solidFill>
                        </a:rPr>
                        <a:t>The 9/29 email also changes payment terms to net 60 and the contracting party.</a:t>
                      </a:r>
                      <a:endParaRPr lang="en-US" sz="1100" dirty="0"/>
                    </a:p>
                  </a:txBody>
                  <a:tcPr marL="73152" marR="73152" marT="27432" marB="27432"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tcPr>
                </a:tc>
                <a:tc>
                  <a:txBody>
                    <a:bodyPr/>
                    <a:lstStyle/>
                    <a:p>
                      <a:pPr algn="ctr" indent="0" marL="0">
                        <a:buNone/>
                      </a:pPr>
                      <a:r>
                        <a:rPr lang="en-US" sz="1100" b="1" dirty="0">
                          <a:solidFill>
                            <a:schemeClr val="tx1"/>
                          </a:solidFill>
                        </a:rPr>
                        <a:t>Stale</a:t>
                      </a:r>
                      <a:endParaRPr lang="en-US" sz="1100" dirty="0"/>
                    </a:p>
                  </a:txBody>
                  <a:tcPr marL="73152" marR="73152" marT="27432" marB="27432"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chemeClr val="accent4"/>
                    </a:solidFill>
                  </a:tcPr>
                </a:tc>
              </a:tr>
              <a:tr h="585216">
                <a:tc>
                  <a:txBody>
                    <a:bodyPr/>
                    <a:lstStyle/>
                    <a:p>
                      <a:pPr indent="0" marL="0">
                        <a:buNone/>
                      </a:pPr>
                      <a:r>
                        <a:rPr lang="en-US" sz="1100" b="1" dirty="0">
                          <a:solidFill>
                            <a:schemeClr val="tx1"/>
                          </a:solidFill>
                        </a:rPr>
                        <a:t>Notes, 10/1</a:t>
                      </a:r>
                      <a:endParaRPr lang="en-US" sz="1100" dirty="0"/>
                    </a:p>
                  </a:txBody>
                  <a:tcPr marL="73152" marR="73152" marT="27432" marB="27432"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tcPr>
                </a:tc>
                <a:tc>
                  <a:txBody>
                    <a:bodyPr/>
                    <a:lstStyle/>
                    <a:p>
                      <a:pPr indent="0" marL="0">
                        <a:buNone/>
                      </a:pPr>
                      <a:r>
                        <a:rPr lang="en-US" sz="1100" dirty="0">
                          <a:solidFill>
                            <a:schemeClr val="tx1"/>
                          </a:solidFill>
                        </a:rPr>
                        <a:t>Deal desk approved 12 percent discount on 10/1</a:t>
                      </a:r>
                      <a:endParaRPr lang="en-US" sz="1100" dirty="0"/>
                    </a:p>
                  </a:txBody>
                  <a:tcPr marL="73152" marR="73152" marT="27432" marB="27432"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tcPr>
                </a:tc>
                <a:tc>
                  <a:txBody>
                    <a:bodyPr/>
                    <a:lstStyle/>
                    <a:p>
                      <a:pPr indent="0" marL="0">
                        <a:buNone/>
                      </a:pPr>
                      <a:r>
                        <a:rPr lang="en-US" sz="1100" dirty="0">
                          <a:solidFill>
                            <a:schemeClr val="tx1"/>
                          </a:solidFill>
                        </a:rPr>
                        <a:t>About $5,000 per location was quoted to Ian on 9/10 and the agreement went out 9/24, before the logged approval.</a:t>
                      </a:r>
                      <a:endParaRPr lang="en-US" sz="1100" dirty="0"/>
                    </a:p>
                  </a:txBody>
                  <a:tcPr marL="73152" marR="73152" marT="27432" marB="27432"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tcPr>
                </a:tc>
                <a:tc>
                  <a:txBody>
                    <a:bodyPr/>
                    <a:lstStyle/>
                    <a:p>
                      <a:pPr algn="ctr" indent="0" marL="0">
                        <a:buNone/>
                      </a:pPr>
                      <a:r>
                        <a:rPr lang="en-US" sz="1100" b="1" dirty="0">
                          <a:solidFill>
                            <a:schemeClr val="bg1"/>
                          </a:solidFill>
                        </a:rPr>
                        <a:t>Unsupported</a:t>
                      </a:r>
                      <a:endParaRPr lang="en-US" sz="1100" dirty="0"/>
                    </a:p>
                  </a:txBody>
                  <a:tcPr marL="73152" marR="73152" marT="27432" marB="27432"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chemeClr val="accent6"/>
                    </a:solidFill>
                  </a:tcPr>
                </a:tc>
              </a:tr>
              <a:tr h="585216">
                <a:tc>
                  <a:txBody>
                    <a:bodyPr/>
                    <a:lstStyle/>
                    <a:p>
                      <a:pPr indent="0" marL="0">
                        <a:buNone/>
                      </a:pPr>
                      <a:r>
                        <a:rPr lang="en-US" sz="1100" b="1" dirty="0">
                          <a:solidFill>
                            <a:schemeClr val="tx1"/>
                          </a:solidFill>
                        </a:rPr>
                        <a:t>Competition</a:t>
                      </a:r>
                      <a:endParaRPr lang="en-US" sz="1100" dirty="0"/>
                    </a:p>
                  </a:txBody>
                  <a:tcPr marL="73152" marR="73152" marT="27432" marB="27432"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tcPr>
                </a:tc>
                <a:tc>
                  <a:txBody>
                    <a:bodyPr/>
                    <a:lstStyle/>
                    <a:p>
                      <a:pPr indent="0" marL="0">
                        <a:buNone/>
                      </a:pPr>
                      <a:r>
                        <a:rPr lang="en-US" sz="1100" dirty="0">
                          <a:solidFill>
                            <a:schemeClr val="tx1"/>
                          </a:solidFill>
                        </a:rPr>
                        <a:t>ClinicQ (out)</a:t>
                      </a:r>
                      <a:endParaRPr lang="en-US" sz="1100" dirty="0"/>
                    </a:p>
                  </a:txBody>
                  <a:tcPr marL="73152" marR="73152" marT="27432" marB="27432"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tcPr>
                </a:tc>
                <a:tc>
                  <a:txBody>
                    <a:bodyPr/>
                    <a:lstStyle/>
                    <a:p>
                      <a:pPr indent="0" marL="0">
                        <a:buNone/>
                      </a:pPr>
                      <a:r>
                        <a:rPr lang="en-US" sz="1100" dirty="0">
                          <a:solidFill>
                            <a:schemeClr val="tx1"/>
                          </a:solidFill>
                        </a:rPr>
                        <a:t>Dr. Cho ruled it out 8/6. Tom mentioned other options on 7/14; none is named.</a:t>
                      </a:r>
                      <a:endParaRPr lang="en-US" sz="1100" dirty="0"/>
                    </a:p>
                  </a:txBody>
                  <a:tcPr marL="73152" marR="73152" marT="27432" marB="27432"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tcPr>
                </a:tc>
                <a:tc>
                  <a:txBody>
                    <a:bodyPr/>
                    <a:lstStyle/>
                    <a:p>
                      <a:pPr algn="ctr" indent="0" marL="0">
                        <a:buNone/>
                      </a:pPr>
                      <a:r>
                        <a:rPr lang="en-US" sz="1100" b="1" dirty="0">
                          <a:solidFill>
                            <a:schemeClr val="tx1"/>
                          </a:solidFill>
                        </a:rPr>
                        <a:t>Stale</a:t>
                      </a:r>
                      <a:endParaRPr lang="en-US" sz="1100" dirty="0"/>
                    </a:p>
                  </a:txBody>
                  <a:tcPr marL="73152" marR="73152" marT="27432" marB="27432"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chemeClr val="accent4"/>
                    </a:solidFill>
                  </a:tcPr>
                </a:tc>
              </a:tr>
              <a:tr h="585216">
                <a:tc>
                  <a:txBody>
                    <a:bodyPr/>
                    <a:lstStyle/>
                    <a:p>
                      <a:pPr indent="0" marL="0">
                        <a:buNone/>
                      </a:pPr>
                      <a:r>
                        <a:rPr lang="en-US" sz="1100" b="1" dirty="0">
                          <a:solidFill>
                            <a:schemeClr val="tx1"/>
                          </a:solidFill>
                        </a:rPr>
                        <a:t>Contacts</a:t>
                      </a:r>
                      <a:endParaRPr lang="en-US" sz="1100" dirty="0"/>
                    </a:p>
                  </a:txBody>
                  <a:tcPr marL="73152" marR="73152" marT="27432" marB="27432"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tcPr>
                </a:tc>
                <a:tc>
                  <a:txBody>
                    <a:bodyPr/>
                    <a:lstStyle/>
                    <a:p>
                      <a:pPr indent="0" marL="0">
                        <a:buNone/>
                      </a:pPr>
                      <a:r>
                        <a:rPr lang="en-US" sz="1100" dirty="0">
                          <a:solidFill>
                            <a:schemeClr val="tx1"/>
                          </a:solidFill>
                        </a:rPr>
                        <a:t>Five contacts</a:t>
                      </a:r>
                      <a:endParaRPr lang="en-US" sz="1100" dirty="0"/>
                    </a:p>
                  </a:txBody>
                  <a:tcPr marL="73152" marR="73152" marT="27432" marB="27432"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tcPr>
                </a:tc>
                <a:tc>
                  <a:txBody>
                    <a:bodyPr/>
                    <a:lstStyle/>
                    <a:p>
                      <a:pPr indent="0" marL="0">
                        <a:buNone/>
                      </a:pPr>
                      <a:r>
                        <a:rPr lang="en-US" sz="1100" dirty="0">
                          <a:solidFill>
                            <a:schemeClr val="tx1"/>
                          </a:solidFill>
                        </a:rPr>
                        <a:t>Outside counsel Priya Anand is on the thread but not a contact. Work done, not recorded.</a:t>
                      </a:r>
                      <a:endParaRPr lang="en-US" sz="1100" dirty="0"/>
                    </a:p>
                  </a:txBody>
                  <a:tcPr marL="73152" marR="73152" marT="27432" marB="27432"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tcPr>
                </a:tc>
                <a:tc>
                  <a:txBody>
                    <a:bodyPr/>
                    <a:lstStyle/>
                    <a:p>
                      <a:pPr algn="ctr" indent="0" marL="0">
                        <a:buNone/>
                      </a:pPr>
                      <a:r>
                        <a:rPr lang="en-US" sz="1100" b="1" dirty="0">
                          <a:solidFill>
                            <a:schemeClr val="bg1"/>
                          </a:solidFill>
                        </a:rPr>
                        <a:t>Unpopulated</a:t>
                      </a:r>
                      <a:endParaRPr lang="en-US" sz="1100" dirty="0"/>
                    </a:p>
                  </a:txBody>
                  <a:tcPr marL="73152" marR="73152" marT="27432" marB="27432"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chemeClr val="accent6"/>
                    </a:solidFill>
                  </a:tcPr>
                </a:tc>
              </a:tr>
            </a:tbl>
          </a:graphicData>
        </a:graphic>
      </p:graphicFrame>
      <p:sp>
        <p:nvSpPr>
          <p:cNvPr id="4" name="Matched fields"/>
          <p:cNvSpPr txBox="1"/>
          <p:nvPr/>
        </p:nvSpPr>
        <p:spPr>
          <a:xfrm>
            <a:off x="548640" y="5806440"/>
            <a:ext cx="11064240" cy="457200"/>
          </a:xfrm>
          <a:prstGeom prst="rect">
            <a:avLst/>
          </a:prstGeom>
          <a:noFill/>
          <a:ln/>
        </p:spPr>
        <p:txBody>
          <a:bodyPr wrap="square" lIns="0" tIns="0" rIns="0" bIns="0" rtlCol="0" anchor="t"/>
          <a:lstStyle/>
          <a:p>
            <a:pPr indent="0" marL="0">
              <a:buNone/>
            </a:pPr>
            <a:r>
              <a:rPr lang="en-US" sz="1200" dirty="0">
                <a:solidFill>
                  <a:schemeClr val="tx1"/>
                </a:solidFill>
              </a:rPr>
              <a:t>Nine fields match the record: Amount, Deal Stage, Close Date, Forecast Category, Economic Buyer, Champion, Identified Pain, Decision Criteria, Decision Process.</a:t>
            </a:r>
            <a:endParaRPr lang="en-US" sz="1200" dirty="0"/>
          </a:p>
        </p:txBody>
      </p:sp>
      <p:sp>
        <p:nvSpPr>
          <p:cNvPr id="25" name="Slide Number Placeholder 0"/>
          <p:cNvSpPr>
            <a:spLocks noGrp="1"/>
          </p:cNvSpPr>
          <p:nvPr>
            <p:ph type="sldNum" sz="quarter" idx="4294967295"/>
          </p:nvPr>
        </p:nvSpPr>
        <p:spPr>
          <a:xfrm>
            <a:off x="11247120" y="6419088"/>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000" b="1" dirty="0">
                <a:solidFill>
                  <a:schemeClr val="tx1"/>
                </a:solidFill>
              </a:rPr>
              <a:t>Four open items between now and signature</a:t>
            </a:r>
            <a:endParaRPr lang="en-US" sz="3000" dirty="0"/>
          </a:p>
        </p:txBody>
      </p:sp>
      <p:sp>
        <p:nvSpPr>
          <p:cNvPr id="3" name="Open item 1"/>
          <p:cNvSpPr/>
          <p:nvPr/>
        </p:nvSpPr>
        <p:spPr>
          <a:xfrm>
            <a:off x="548640" y="1188720"/>
            <a:ext cx="5440680" cy="2377440"/>
          </a:xfrm>
          <a:prstGeom prst="roundRect">
            <a:avLst>
              <a:gd name="adj" fmla="val 3077"/>
            </a:avLst>
          </a:prstGeom>
          <a:solidFill>
            <a:schemeClr val="bg2"/>
          </a:solidFill>
          <a:ln w="12700">
            <a:solidFill>
              <a:schemeClr val="bg2"/>
            </a:solidFill>
            <a:prstDash val="solid"/>
          </a:ln>
        </p:spPr>
      </p:sp>
      <p:sp>
        <p:nvSpPr>
          <p:cNvPr id="4" name="Open item badge 1"/>
          <p:cNvSpPr/>
          <p:nvPr/>
        </p:nvSpPr>
        <p:spPr>
          <a:xfrm>
            <a:off x="731520" y="1371600"/>
            <a:ext cx="457200" cy="457200"/>
          </a:xfrm>
          <a:prstGeom prst="ellipse">
            <a:avLst/>
          </a:prstGeom>
          <a:solidFill>
            <a:schemeClr val="accent2"/>
          </a:solidFill>
          <a:ln w="12700">
            <a:solidFill>
              <a:schemeClr val="accent2"/>
            </a:solidFill>
            <a:prstDash val="solid"/>
          </a:ln>
        </p:spPr>
      </p:sp>
      <p:sp>
        <p:nvSpPr>
          <p:cNvPr id="5" name="Text 3"/>
          <p:cNvSpPr txBox="1"/>
          <p:nvPr/>
        </p:nvSpPr>
        <p:spPr>
          <a:xfrm>
            <a:off x="731520" y="137160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6" name="Text 4"/>
          <p:cNvSpPr txBox="1"/>
          <p:nvPr/>
        </p:nvSpPr>
        <p:spPr>
          <a:xfrm>
            <a:off x="1371600" y="1371600"/>
            <a:ext cx="4434840" cy="457200"/>
          </a:xfrm>
          <a:prstGeom prst="rect">
            <a:avLst/>
          </a:prstGeom>
          <a:noFill/>
          <a:ln/>
        </p:spPr>
        <p:txBody>
          <a:bodyPr wrap="square" lIns="0" tIns="0" rIns="0" bIns="0" rtlCol="0" anchor="ctr"/>
          <a:lstStyle/>
          <a:p>
            <a:pPr indent="0" marL="0">
              <a:buNone/>
            </a:pPr>
            <a:r>
              <a:rPr lang="en-US" sz="2000" b="1" dirty="0">
                <a:solidFill>
                  <a:schemeClr val="tx2"/>
                </a:solidFill>
              </a:rPr>
              <a:t>Who signs</a:t>
            </a:r>
            <a:endParaRPr lang="en-US" sz="2000" dirty="0"/>
          </a:p>
        </p:txBody>
      </p:sp>
      <p:sp>
        <p:nvSpPr>
          <p:cNvPr id="7" name="Text 5"/>
          <p:cNvSpPr txBox="1"/>
          <p:nvPr/>
        </p:nvSpPr>
        <p:spPr>
          <a:xfrm>
            <a:off x="731520" y="1965960"/>
            <a:ext cx="5074920" cy="914400"/>
          </a:xfrm>
          <a:prstGeom prst="rect">
            <a:avLst/>
          </a:prstGeom>
          <a:noFill/>
          <a:ln/>
        </p:spPr>
        <p:txBody>
          <a:bodyPr wrap="square" lIns="0" tIns="0" rIns="0" bIns="0" rtlCol="0" anchor="t"/>
          <a:lstStyle/>
          <a:p>
            <a:pPr indent="0" marL="0">
              <a:buNone/>
            </a:pPr>
            <a:r>
              <a:rPr lang="en-US" sz="1200" dirty="0">
                <a:solidFill>
                  <a:schemeClr val="tx1"/>
                </a:solidFill>
              </a:rPr>
              <a:t>Entity is Bluebird Dental Holdings LLC. Raquel is confirming signing authority with Ian (9/29). CRM Paper Process says Raquel signs.</a:t>
            </a:r>
            <a:endParaRPr lang="en-US" sz="1200" dirty="0"/>
          </a:p>
        </p:txBody>
      </p:sp>
      <p:sp>
        <p:nvSpPr>
          <p:cNvPr id="8" name="Text 6"/>
          <p:cNvSpPr txBox="1"/>
          <p:nvPr/>
        </p:nvSpPr>
        <p:spPr>
          <a:xfrm>
            <a:off x="731520" y="2926080"/>
            <a:ext cx="5074920" cy="502920"/>
          </a:xfrm>
          <a:prstGeom prst="rect">
            <a:avLst/>
          </a:prstGeom>
          <a:noFill/>
          <a:ln/>
        </p:spPr>
        <p:txBody>
          <a:bodyPr wrap="square" lIns="0" tIns="0" rIns="0" bIns="0" rtlCol="0" anchor="t"/>
          <a:lstStyle/>
          <a:p>
            <a:pPr indent="0" marL="0">
              <a:buNone/>
            </a:pPr>
            <a:r>
              <a:rPr lang="en-US" sz="1200" b="1" dirty="0">
                <a:solidFill>
                  <a:schemeClr val="tx2"/>
                </a:solidFill>
              </a:rPr>
              <a:t>Closes by Mon 10/12 with the signer's name and title.</a:t>
            </a:r>
            <a:endParaRPr lang="en-US" sz="1200" dirty="0"/>
          </a:p>
        </p:txBody>
      </p:sp>
      <p:sp>
        <p:nvSpPr>
          <p:cNvPr id="9" name="Open item 2"/>
          <p:cNvSpPr/>
          <p:nvPr/>
        </p:nvSpPr>
        <p:spPr>
          <a:xfrm>
            <a:off x="6172200" y="1188720"/>
            <a:ext cx="5440680" cy="2377440"/>
          </a:xfrm>
          <a:prstGeom prst="roundRect">
            <a:avLst>
              <a:gd name="adj" fmla="val 3077"/>
            </a:avLst>
          </a:prstGeom>
          <a:solidFill>
            <a:schemeClr val="bg2"/>
          </a:solidFill>
          <a:ln w="12700">
            <a:solidFill>
              <a:schemeClr val="bg2"/>
            </a:solidFill>
            <a:prstDash val="solid"/>
          </a:ln>
        </p:spPr>
      </p:sp>
      <p:sp>
        <p:nvSpPr>
          <p:cNvPr id="10" name="Open item badge 2"/>
          <p:cNvSpPr/>
          <p:nvPr/>
        </p:nvSpPr>
        <p:spPr>
          <a:xfrm>
            <a:off x="6355080" y="1371600"/>
            <a:ext cx="457200" cy="457200"/>
          </a:xfrm>
          <a:prstGeom prst="ellipse">
            <a:avLst/>
          </a:prstGeom>
          <a:solidFill>
            <a:schemeClr val="accent2"/>
          </a:solidFill>
          <a:ln w="12700">
            <a:solidFill>
              <a:schemeClr val="accent2"/>
            </a:solidFill>
            <a:prstDash val="solid"/>
          </a:ln>
        </p:spPr>
      </p:sp>
      <p:sp>
        <p:nvSpPr>
          <p:cNvPr id="11" name="Text 9"/>
          <p:cNvSpPr txBox="1"/>
          <p:nvPr/>
        </p:nvSpPr>
        <p:spPr>
          <a:xfrm>
            <a:off x="6355080" y="137160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2" name="Text 10"/>
          <p:cNvSpPr txBox="1"/>
          <p:nvPr/>
        </p:nvSpPr>
        <p:spPr>
          <a:xfrm>
            <a:off x="6995160" y="1371600"/>
            <a:ext cx="4434840" cy="457200"/>
          </a:xfrm>
          <a:prstGeom prst="rect">
            <a:avLst/>
          </a:prstGeom>
          <a:noFill/>
          <a:ln/>
        </p:spPr>
        <p:txBody>
          <a:bodyPr wrap="square" lIns="0" tIns="0" rIns="0" bIns="0" rtlCol="0" anchor="ctr"/>
          <a:lstStyle/>
          <a:p>
            <a:pPr indent="0" marL="0">
              <a:buNone/>
            </a:pPr>
            <a:r>
              <a:rPr lang="en-US" sz="2000" b="1" dirty="0">
                <a:solidFill>
                  <a:schemeClr val="tx2"/>
                </a:solidFill>
              </a:rPr>
              <a:t>Payment terms</a:t>
            </a:r>
            <a:endParaRPr lang="en-US" sz="2000" dirty="0"/>
          </a:p>
        </p:txBody>
      </p:sp>
      <p:sp>
        <p:nvSpPr>
          <p:cNvPr id="13" name="Text 11"/>
          <p:cNvSpPr txBox="1"/>
          <p:nvPr/>
        </p:nvSpPr>
        <p:spPr>
          <a:xfrm>
            <a:off x="6355080" y="1965960"/>
            <a:ext cx="5074920" cy="914400"/>
          </a:xfrm>
          <a:prstGeom prst="rect">
            <a:avLst/>
          </a:prstGeom>
          <a:noFill/>
          <a:ln/>
        </p:spPr>
        <p:txBody>
          <a:bodyPr wrap="square" lIns="0" tIns="0" rIns="0" bIns="0" rtlCol="0" anchor="t"/>
          <a:lstStyle/>
          <a:p>
            <a:pPr indent="0" marL="0">
              <a:buNone/>
            </a:pPr>
            <a:r>
              <a:rPr lang="en-US" sz="1200" dirty="0">
                <a:solidFill>
                  <a:schemeClr val="tx1"/>
                </a:solidFill>
              </a:rPr>
              <a:t>Ian's standard is net 60 (9/10). Raquel wrote net 60 into the redline (9/29). We offered net 30 on 10/3 and proposed a middle ground.</a:t>
            </a:r>
            <a:endParaRPr lang="en-US" sz="1200" dirty="0"/>
          </a:p>
        </p:txBody>
      </p:sp>
      <p:sp>
        <p:nvSpPr>
          <p:cNvPr id="14" name="Text 12"/>
          <p:cNvSpPr txBox="1"/>
          <p:nvPr/>
        </p:nvSpPr>
        <p:spPr>
          <a:xfrm>
            <a:off x="6355080" y="2926080"/>
            <a:ext cx="5074920" cy="502920"/>
          </a:xfrm>
          <a:prstGeom prst="rect">
            <a:avLst/>
          </a:prstGeom>
          <a:noFill/>
          <a:ln/>
        </p:spPr>
        <p:txBody>
          <a:bodyPr wrap="square" lIns="0" tIns="0" rIns="0" bIns="0" rtlCol="0" anchor="t"/>
          <a:lstStyle/>
          <a:p>
            <a:pPr indent="0" marL="0">
              <a:buNone/>
            </a:pPr>
            <a:r>
              <a:rPr lang="en-US" sz="1200" b="1" dirty="0">
                <a:solidFill>
                  <a:schemeClr val="tx2"/>
                </a:solidFill>
              </a:rPr>
              <a:t>Needs our position by Thu 10/8 and a call by Fri 10/9.</a:t>
            </a:r>
            <a:endParaRPr lang="en-US" sz="1200" dirty="0"/>
          </a:p>
        </p:txBody>
      </p:sp>
      <p:sp>
        <p:nvSpPr>
          <p:cNvPr id="15" name="Open item 3"/>
          <p:cNvSpPr/>
          <p:nvPr/>
        </p:nvSpPr>
        <p:spPr>
          <a:xfrm>
            <a:off x="548640" y="3749040"/>
            <a:ext cx="5440680" cy="2377440"/>
          </a:xfrm>
          <a:prstGeom prst="roundRect">
            <a:avLst>
              <a:gd name="adj" fmla="val 3077"/>
            </a:avLst>
          </a:prstGeom>
          <a:solidFill>
            <a:schemeClr val="bg2"/>
          </a:solidFill>
          <a:ln w="12700">
            <a:solidFill>
              <a:schemeClr val="bg2"/>
            </a:solidFill>
            <a:prstDash val="solid"/>
          </a:ln>
        </p:spPr>
      </p:sp>
      <p:sp>
        <p:nvSpPr>
          <p:cNvPr id="16" name="Open item badge 3"/>
          <p:cNvSpPr/>
          <p:nvPr/>
        </p:nvSpPr>
        <p:spPr>
          <a:xfrm>
            <a:off x="731520" y="3931920"/>
            <a:ext cx="457200" cy="457200"/>
          </a:xfrm>
          <a:prstGeom prst="ellipse">
            <a:avLst/>
          </a:prstGeom>
          <a:solidFill>
            <a:schemeClr val="accent2"/>
          </a:solidFill>
          <a:ln w="12700">
            <a:solidFill>
              <a:schemeClr val="accent2"/>
            </a:solidFill>
            <a:prstDash val="solid"/>
          </a:ln>
        </p:spPr>
      </p:sp>
      <p:sp>
        <p:nvSpPr>
          <p:cNvPr id="17" name="Text 15"/>
          <p:cNvSpPr txBox="1"/>
          <p:nvPr/>
        </p:nvSpPr>
        <p:spPr>
          <a:xfrm>
            <a:off x="731520" y="393192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8" name="Text 16"/>
          <p:cNvSpPr txBox="1"/>
          <p:nvPr/>
        </p:nvSpPr>
        <p:spPr>
          <a:xfrm>
            <a:off x="1371600" y="3931920"/>
            <a:ext cx="4434840" cy="457200"/>
          </a:xfrm>
          <a:prstGeom prst="rect">
            <a:avLst/>
          </a:prstGeom>
          <a:noFill/>
          <a:ln/>
        </p:spPr>
        <p:txBody>
          <a:bodyPr wrap="square" lIns="0" tIns="0" rIns="0" bIns="0" rtlCol="0" anchor="ctr"/>
          <a:lstStyle/>
          <a:p>
            <a:pPr indent="0" marL="0">
              <a:buNone/>
            </a:pPr>
            <a:r>
              <a:rPr lang="en-US" sz="2000" b="1" dirty="0">
                <a:solidFill>
                  <a:schemeClr val="tx2"/>
                </a:solidFill>
              </a:rPr>
              <a:t>Section 9 carve-out</a:t>
            </a:r>
            <a:endParaRPr lang="en-US" sz="2000" dirty="0"/>
          </a:p>
        </p:txBody>
      </p:sp>
      <p:sp>
        <p:nvSpPr>
          <p:cNvPr id="19" name="Text 17"/>
          <p:cNvSpPr txBox="1"/>
          <p:nvPr/>
        </p:nvSpPr>
        <p:spPr>
          <a:xfrm>
            <a:off x="731520" y="4526280"/>
            <a:ext cx="5074920" cy="914400"/>
          </a:xfrm>
          <a:prstGeom prst="rect">
            <a:avLst/>
          </a:prstGeom>
          <a:noFill/>
          <a:ln/>
        </p:spPr>
        <p:txBody>
          <a:bodyPr wrap="square" lIns="0" tIns="0" rIns="0" bIns="0" rtlCol="0" anchor="t"/>
          <a:lstStyle/>
          <a:p>
            <a:pPr indent="0" marL="0">
              <a:buNone/>
            </a:pPr>
            <a:r>
              <a:rPr lang="en-US" sz="1200" dirty="0">
                <a:solidFill>
                  <a:schemeClr val="tx1"/>
                </a:solidFill>
              </a:rPr>
              <a:t>We accepted Raquel's liability cap language with one change to the data-breach carve-out and flagged it for Priya (10/3).</a:t>
            </a:r>
            <a:endParaRPr lang="en-US" sz="1200" dirty="0"/>
          </a:p>
        </p:txBody>
      </p:sp>
      <p:sp>
        <p:nvSpPr>
          <p:cNvPr id="20" name="Text 18"/>
          <p:cNvSpPr txBox="1"/>
          <p:nvPr/>
        </p:nvSpPr>
        <p:spPr>
          <a:xfrm>
            <a:off x="731520" y="5486400"/>
            <a:ext cx="5074920" cy="502920"/>
          </a:xfrm>
          <a:prstGeom prst="rect">
            <a:avLst/>
          </a:prstGeom>
          <a:noFill/>
          <a:ln/>
        </p:spPr>
        <p:txBody>
          <a:bodyPr wrap="square" lIns="0" tIns="0" rIns="0" bIns="0" rtlCol="0" anchor="t"/>
          <a:lstStyle/>
          <a:p>
            <a:pPr indent="0" marL="0">
              <a:buNone/>
            </a:pPr>
            <a:r>
              <a:rPr lang="en-US" sz="1200" b="1" dirty="0">
                <a:solidFill>
                  <a:schemeClr val="tx2"/>
                </a:solidFill>
              </a:rPr>
              <a:t>Needs our legal sign-off by Fri 10/9.</a:t>
            </a:r>
            <a:endParaRPr lang="en-US" sz="1200" dirty="0"/>
          </a:p>
        </p:txBody>
      </p:sp>
      <p:sp>
        <p:nvSpPr>
          <p:cNvPr id="21" name="Open item 4"/>
          <p:cNvSpPr/>
          <p:nvPr/>
        </p:nvSpPr>
        <p:spPr>
          <a:xfrm>
            <a:off x="6172200" y="3749040"/>
            <a:ext cx="5440680" cy="2377440"/>
          </a:xfrm>
          <a:prstGeom prst="roundRect">
            <a:avLst>
              <a:gd name="adj" fmla="val 3077"/>
            </a:avLst>
          </a:prstGeom>
          <a:solidFill>
            <a:schemeClr val="bg2"/>
          </a:solidFill>
          <a:ln w="12700">
            <a:solidFill>
              <a:schemeClr val="bg2"/>
            </a:solidFill>
            <a:prstDash val="solid"/>
          </a:ln>
        </p:spPr>
      </p:sp>
      <p:sp>
        <p:nvSpPr>
          <p:cNvPr id="22" name="Open item badge 4"/>
          <p:cNvSpPr/>
          <p:nvPr/>
        </p:nvSpPr>
        <p:spPr>
          <a:xfrm>
            <a:off x="6355080" y="3931920"/>
            <a:ext cx="457200" cy="457200"/>
          </a:xfrm>
          <a:prstGeom prst="ellipse">
            <a:avLst/>
          </a:prstGeom>
          <a:solidFill>
            <a:schemeClr val="accent6"/>
          </a:solidFill>
          <a:ln w="12700">
            <a:solidFill>
              <a:schemeClr val="accent6"/>
            </a:solidFill>
            <a:prstDash val="solid"/>
          </a:ln>
        </p:spPr>
      </p:sp>
      <p:sp>
        <p:nvSpPr>
          <p:cNvPr id="23" name="Text 21"/>
          <p:cNvSpPr txBox="1"/>
          <p:nvPr/>
        </p:nvSpPr>
        <p:spPr>
          <a:xfrm>
            <a:off x="6355080" y="393192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24" name="Text 22"/>
          <p:cNvSpPr txBox="1"/>
          <p:nvPr/>
        </p:nvSpPr>
        <p:spPr>
          <a:xfrm>
            <a:off x="6995160" y="3931920"/>
            <a:ext cx="4434840" cy="457200"/>
          </a:xfrm>
          <a:prstGeom prst="rect">
            <a:avLst/>
          </a:prstGeom>
          <a:noFill/>
          <a:ln/>
        </p:spPr>
        <p:txBody>
          <a:bodyPr wrap="square" lIns="0" tIns="0" rIns="0" bIns="0" rtlCol="0" anchor="ctr"/>
          <a:lstStyle/>
          <a:p>
            <a:pPr indent="0" marL="0">
              <a:buNone/>
            </a:pPr>
            <a:r>
              <a:rPr lang="en-US" sz="2000" b="1" dirty="0">
                <a:solidFill>
                  <a:schemeClr val="tx2"/>
                </a:solidFill>
              </a:rPr>
              <a:t>No buyer baseline</a:t>
            </a:r>
            <a:endParaRPr lang="en-US" sz="2000" dirty="0"/>
          </a:p>
        </p:txBody>
      </p:sp>
      <p:sp>
        <p:nvSpPr>
          <p:cNvPr id="25" name="Text 23"/>
          <p:cNvSpPr txBox="1"/>
          <p:nvPr/>
        </p:nvSpPr>
        <p:spPr>
          <a:xfrm>
            <a:off x="6355080" y="4526280"/>
            <a:ext cx="5074920" cy="914400"/>
          </a:xfrm>
          <a:prstGeom prst="rect">
            <a:avLst/>
          </a:prstGeom>
          <a:noFill/>
          <a:ln/>
        </p:spPr>
        <p:txBody>
          <a:bodyPr wrap="square" lIns="0" tIns="0" rIns="0" bIns="0" rtlCol="0" anchor="t"/>
          <a:lstStyle/>
          <a:p>
            <a:pPr indent="0" marL="0">
              <a:buNone/>
            </a:pPr>
            <a:r>
              <a:rPr lang="en-US" sz="1200" dirty="0">
                <a:solidFill>
                  <a:schemeClr val="tx1"/>
                </a:solidFill>
              </a:rPr>
              <a:t>The Metrics field targets no-shows. Bluebird has not spoken about no-shows. Its measures are double-booking and front-desk hours.</a:t>
            </a:r>
            <a:endParaRPr lang="en-US" sz="1200" dirty="0"/>
          </a:p>
        </p:txBody>
      </p:sp>
      <p:sp>
        <p:nvSpPr>
          <p:cNvPr id="26" name="Text 24"/>
          <p:cNvSpPr txBox="1"/>
          <p:nvPr/>
        </p:nvSpPr>
        <p:spPr>
          <a:xfrm>
            <a:off x="6355080" y="5486400"/>
            <a:ext cx="5074920" cy="502920"/>
          </a:xfrm>
          <a:prstGeom prst="rect">
            <a:avLst/>
          </a:prstGeom>
          <a:noFill/>
          <a:ln/>
        </p:spPr>
        <p:txBody>
          <a:bodyPr wrap="square" lIns="0" tIns="0" rIns="0" bIns="0" rtlCol="0" anchor="t"/>
          <a:lstStyle/>
          <a:p>
            <a:pPr indent="0" marL="0">
              <a:buNone/>
            </a:pPr>
            <a:r>
              <a:rPr lang="en-US" sz="1200" b="1" dirty="0">
                <a:solidFill>
                  <a:schemeClr val="tx2"/>
                </a:solidFill>
              </a:rPr>
              <a:t>Ask for a baseline by Wed 10/14. Not gating.</a:t>
            </a:r>
            <a:endParaRPr lang="en-US" sz="1200" dirty="0"/>
          </a:p>
        </p:txBody>
      </p:sp>
      <p:sp>
        <p:nvSpPr>
          <p:cNvPr id="25" name="Slide Number Placeholder 0"/>
          <p:cNvSpPr>
            <a:spLocks noGrp="1"/>
          </p:cNvSpPr>
          <p:nvPr>
            <p:ph type="sldNum" sz="quarter" idx="4294967295"/>
          </p:nvPr>
        </p:nvSpPr>
        <p:spPr>
          <a:xfrm>
            <a:off x="11247120" y="6419088"/>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000" b="1" dirty="0">
                <a:solidFill>
                  <a:schemeClr val="tx1"/>
                </a:solidFill>
              </a:rPr>
              <a:t>Questions the reviewers will likely ask</a:t>
            </a:r>
            <a:endParaRPr lang="en-US" sz="3000" dirty="0"/>
          </a:p>
        </p:txBody>
      </p:sp>
      <p:sp>
        <p:nvSpPr>
          <p:cNvPr id="3" name="Question card 1"/>
          <p:cNvSpPr/>
          <p:nvPr/>
        </p:nvSpPr>
        <p:spPr>
          <a:xfrm>
            <a:off x="548640" y="1188720"/>
            <a:ext cx="11064240" cy="914400"/>
          </a:xfrm>
          <a:prstGeom prst="roundRect">
            <a:avLst>
              <a:gd name="adj" fmla="val 8000"/>
            </a:avLst>
          </a:prstGeom>
          <a:solidFill>
            <a:schemeClr val="bg2"/>
          </a:solidFill>
          <a:ln w="12700">
            <a:solidFill>
              <a:schemeClr val="bg2"/>
            </a:solidFill>
            <a:prstDash val="solid"/>
          </a:ln>
        </p:spPr>
      </p:sp>
      <p:sp>
        <p:nvSpPr>
          <p:cNvPr id="4" name="Question badge 1"/>
          <p:cNvSpPr/>
          <p:nvPr/>
        </p:nvSpPr>
        <p:spPr>
          <a:xfrm>
            <a:off x="731520" y="1417320"/>
            <a:ext cx="457200" cy="457200"/>
          </a:xfrm>
          <a:prstGeom prst="ellipse">
            <a:avLst/>
          </a:prstGeom>
          <a:solidFill>
            <a:schemeClr val="accent1"/>
          </a:solidFill>
          <a:ln w="12700">
            <a:solidFill>
              <a:schemeClr val="accent1"/>
            </a:solidFill>
            <a:prstDash val="solid"/>
          </a:ln>
        </p:spPr>
      </p:sp>
      <p:sp>
        <p:nvSpPr>
          <p:cNvPr id="5" name="Text 3"/>
          <p:cNvSpPr txBox="1"/>
          <p:nvPr/>
        </p:nvSpPr>
        <p:spPr>
          <a:xfrm>
            <a:off x="731520" y="141732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6" name="Question 1"/>
          <p:cNvSpPr txBox="1"/>
          <p:nvPr/>
        </p:nvSpPr>
        <p:spPr>
          <a:xfrm>
            <a:off x="1417320" y="1261872"/>
            <a:ext cx="8412480" cy="768096"/>
          </a:xfrm>
          <a:prstGeom prst="rect">
            <a:avLst/>
          </a:prstGeom>
          <a:noFill/>
          <a:ln/>
        </p:spPr>
        <p:txBody>
          <a:bodyPr wrap="square" lIns="0" tIns="0" rIns="0" bIns="0" rtlCol="0" anchor="ctr"/>
          <a:lstStyle/>
          <a:p>
            <a:pPr indent="0" marL="0">
              <a:buNone/>
            </a:pPr>
            <a:r>
              <a:rPr lang="en-US" sz="1400" dirty="0">
                <a:solidFill>
                  <a:schemeClr val="tx1"/>
                </a:solidFill>
              </a:rPr>
              <a:t>Raquel is confirming with Ian who can sign for Bluebird Dental Holdings LLC, yet Paper Process says Raquel signs. Who signs, and by when will we have the name and title?</a:t>
            </a:r>
            <a:endParaRPr lang="en-US" sz="1400" dirty="0"/>
          </a:p>
        </p:txBody>
      </p:sp>
      <p:sp>
        <p:nvSpPr>
          <p:cNvPr id="7" name="Question tag 1"/>
          <p:cNvSpPr/>
          <p:nvPr/>
        </p:nvSpPr>
        <p:spPr>
          <a:xfrm>
            <a:off x="10012680" y="1463040"/>
            <a:ext cx="1417320" cy="365760"/>
          </a:xfrm>
          <a:prstGeom prst="roundRect">
            <a:avLst>
              <a:gd name="adj" fmla="val 50000"/>
            </a:avLst>
          </a:prstGeom>
          <a:solidFill>
            <a:schemeClr val="accent6"/>
          </a:solidFill>
          <a:ln w="12700">
            <a:solidFill>
              <a:schemeClr val="accent6"/>
            </a:solidFill>
            <a:prstDash val="solid"/>
          </a:ln>
        </p:spPr>
      </p:sp>
      <p:sp>
        <p:nvSpPr>
          <p:cNvPr id="8" name="Text 6"/>
          <p:cNvSpPr txBox="1"/>
          <p:nvPr/>
        </p:nvSpPr>
        <p:spPr>
          <a:xfrm>
            <a:off x="10012680" y="1463040"/>
            <a:ext cx="1417320" cy="365760"/>
          </a:xfrm>
          <a:prstGeom prst="rect">
            <a:avLst/>
          </a:prstGeom>
          <a:noFill/>
          <a:ln/>
        </p:spPr>
        <p:txBody>
          <a:bodyPr wrap="square" lIns="0" tIns="0" rIns="0" bIns="0" rtlCol="0" anchor="ctr"/>
          <a:lstStyle/>
          <a:p>
            <a:pPr algn="ctr" indent="0" marL="0">
              <a:buNone/>
            </a:pPr>
            <a:r>
              <a:rPr lang="en-US" sz="1200" b="1" dirty="0">
                <a:solidFill>
                  <a:schemeClr val="bg1"/>
                </a:solidFill>
              </a:rPr>
              <a:t>Unsupported</a:t>
            </a:r>
            <a:endParaRPr lang="en-US" sz="1200" dirty="0"/>
          </a:p>
        </p:txBody>
      </p:sp>
      <p:sp>
        <p:nvSpPr>
          <p:cNvPr id="9" name="Question card 2"/>
          <p:cNvSpPr/>
          <p:nvPr/>
        </p:nvSpPr>
        <p:spPr>
          <a:xfrm>
            <a:off x="548640" y="2212848"/>
            <a:ext cx="11064240" cy="914400"/>
          </a:xfrm>
          <a:prstGeom prst="roundRect">
            <a:avLst>
              <a:gd name="adj" fmla="val 8000"/>
            </a:avLst>
          </a:prstGeom>
          <a:solidFill>
            <a:schemeClr val="bg2"/>
          </a:solidFill>
          <a:ln w="12700">
            <a:solidFill>
              <a:schemeClr val="bg2"/>
            </a:solidFill>
            <a:prstDash val="solid"/>
          </a:ln>
        </p:spPr>
      </p:sp>
      <p:sp>
        <p:nvSpPr>
          <p:cNvPr id="10" name="Question badge 2"/>
          <p:cNvSpPr/>
          <p:nvPr/>
        </p:nvSpPr>
        <p:spPr>
          <a:xfrm>
            <a:off x="731520" y="2441448"/>
            <a:ext cx="457200" cy="457200"/>
          </a:xfrm>
          <a:prstGeom prst="ellipse">
            <a:avLst/>
          </a:prstGeom>
          <a:solidFill>
            <a:schemeClr val="accent1"/>
          </a:solidFill>
          <a:ln w="12700">
            <a:solidFill>
              <a:schemeClr val="accent1"/>
            </a:solidFill>
            <a:prstDash val="solid"/>
          </a:ln>
        </p:spPr>
      </p:sp>
      <p:sp>
        <p:nvSpPr>
          <p:cNvPr id="11" name="Text 9"/>
          <p:cNvSpPr txBox="1"/>
          <p:nvPr/>
        </p:nvSpPr>
        <p:spPr>
          <a:xfrm>
            <a:off x="731520" y="2441448"/>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2" name="Question 2"/>
          <p:cNvSpPr txBox="1"/>
          <p:nvPr/>
        </p:nvSpPr>
        <p:spPr>
          <a:xfrm>
            <a:off x="1417320" y="2286000"/>
            <a:ext cx="8412480" cy="768096"/>
          </a:xfrm>
          <a:prstGeom prst="rect">
            <a:avLst/>
          </a:prstGeom>
          <a:noFill/>
          <a:ln/>
        </p:spPr>
        <p:txBody>
          <a:bodyPr wrap="square" lIns="0" tIns="0" rIns="0" bIns="0" rtlCol="0" anchor="ctr"/>
          <a:lstStyle/>
          <a:p>
            <a:pPr indent="0" marL="0">
              <a:buNone/>
            </a:pPr>
            <a:r>
              <a:rPr lang="en-US" sz="1400" dirty="0">
                <a:solidFill>
                  <a:schemeClr val="tx1"/>
                </a:solidFill>
              </a:rPr>
              <a:t>Ian's support on 9/10 was conditional on reasonable terms, and his standard is net 60. What is our approved position on payment terms, and what happens to the 10/16 target if net 30 will not hold?</a:t>
            </a:r>
            <a:endParaRPr lang="en-US" sz="1400" dirty="0"/>
          </a:p>
        </p:txBody>
      </p:sp>
      <p:sp>
        <p:nvSpPr>
          <p:cNvPr id="13" name="Question tag 2"/>
          <p:cNvSpPr/>
          <p:nvPr/>
        </p:nvSpPr>
        <p:spPr>
          <a:xfrm>
            <a:off x="10012680" y="2487168"/>
            <a:ext cx="1417320" cy="365760"/>
          </a:xfrm>
          <a:prstGeom prst="roundRect">
            <a:avLst>
              <a:gd name="adj" fmla="val 50000"/>
            </a:avLst>
          </a:prstGeom>
          <a:solidFill>
            <a:schemeClr val="accent6"/>
          </a:solidFill>
          <a:ln w="12700">
            <a:solidFill>
              <a:schemeClr val="accent6"/>
            </a:solidFill>
            <a:prstDash val="solid"/>
          </a:ln>
        </p:spPr>
      </p:sp>
      <p:sp>
        <p:nvSpPr>
          <p:cNvPr id="14" name="Text 12"/>
          <p:cNvSpPr txBox="1"/>
          <p:nvPr/>
        </p:nvSpPr>
        <p:spPr>
          <a:xfrm>
            <a:off x="10012680" y="2487168"/>
            <a:ext cx="1417320" cy="365760"/>
          </a:xfrm>
          <a:prstGeom prst="rect">
            <a:avLst/>
          </a:prstGeom>
          <a:noFill/>
          <a:ln/>
        </p:spPr>
        <p:txBody>
          <a:bodyPr wrap="square" lIns="0" tIns="0" rIns="0" bIns="0" rtlCol="0" anchor="ctr"/>
          <a:lstStyle/>
          <a:p>
            <a:pPr algn="ctr" indent="0" marL="0">
              <a:buNone/>
            </a:pPr>
            <a:r>
              <a:rPr lang="en-US" sz="1200" b="1" dirty="0">
                <a:solidFill>
                  <a:schemeClr val="bg1"/>
                </a:solidFill>
              </a:rPr>
              <a:t>Unknown</a:t>
            </a:r>
            <a:endParaRPr lang="en-US" sz="1200" dirty="0"/>
          </a:p>
        </p:txBody>
      </p:sp>
      <p:sp>
        <p:nvSpPr>
          <p:cNvPr id="15" name="Question card 3"/>
          <p:cNvSpPr/>
          <p:nvPr/>
        </p:nvSpPr>
        <p:spPr>
          <a:xfrm>
            <a:off x="548640" y="3236976"/>
            <a:ext cx="11064240" cy="914400"/>
          </a:xfrm>
          <a:prstGeom prst="roundRect">
            <a:avLst>
              <a:gd name="adj" fmla="val 8000"/>
            </a:avLst>
          </a:prstGeom>
          <a:solidFill>
            <a:schemeClr val="bg2"/>
          </a:solidFill>
          <a:ln w="12700">
            <a:solidFill>
              <a:schemeClr val="bg2"/>
            </a:solidFill>
            <a:prstDash val="solid"/>
          </a:ln>
        </p:spPr>
      </p:sp>
      <p:sp>
        <p:nvSpPr>
          <p:cNvPr id="16" name="Question badge 3"/>
          <p:cNvSpPr/>
          <p:nvPr/>
        </p:nvSpPr>
        <p:spPr>
          <a:xfrm>
            <a:off x="731520" y="3465576"/>
            <a:ext cx="457200" cy="457200"/>
          </a:xfrm>
          <a:prstGeom prst="ellipse">
            <a:avLst/>
          </a:prstGeom>
          <a:solidFill>
            <a:schemeClr val="accent1"/>
          </a:solidFill>
          <a:ln w="12700">
            <a:solidFill>
              <a:schemeClr val="accent1"/>
            </a:solidFill>
            <a:prstDash val="solid"/>
          </a:ln>
        </p:spPr>
      </p:sp>
      <p:sp>
        <p:nvSpPr>
          <p:cNvPr id="17" name="Text 15"/>
          <p:cNvSpPr txBox="1"/>
          <p:nvPr/>
        </p:nvSpPr>
        <p:spPr>
          <a:xfrm>
            <a:off x="731520" y="3465576"/>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8" name="Question 3"/>
          <p:cNvSpPr txBox="1"/>
          <p:nvPr/>
        </p:nvSpPr>
        <p:spPr>
          <a:xfrm>
            <a:off x="1417320" y="3310128"/>
            <a:ext cx="8412480" cy="768096"/>
          </a:xfrm>
          <a:prstGeom prst="rect">
            <a:avLst/>
          </a:prstGeom>
          <a:noFill/>
          <a:ln/>
        </p:spPr>
        <p:txBody>
          <a:bodyPr wrap="square" lIns="0" tIns="0" rIns="0" bIns="0" rtlCol="0" anchor="ctr"/>
          <a:lstStyle/>
          <a:p>
            <a:pPr indent="0" marL="0">
              <a:buNone/>
            </a:pPr>
            <a:r>
              <a:rPr lang="en-US" sz="1400" dirty="0">
                <a:solidFill>
                  <a:schemeClr val="tx1"/>
                </a:solidFill>
              </a:rPr>
              <a:t>The Metrics field targets no-shows, but no buyer has mentioned them. Where did the figures come from, and what will Bluebird use to judge success?</a:t>
            </a:r>
            <a:endParaRPr lang="en-US" sz="1400" dirty="0"/>
          </a:p>
        </p:txBody>
      </p:sp>
      <p:sp>
        <p:nvSpPr>
          <p:cNvPr id="19" name="Question tag 3"/>
          <p:cNvSpPr/>
          <p:nvPr/>
        </p:nvSpPr>
        <p:spPr>
          <a:xfrm>
            <a:off x="10012680" y="3511296"/>
            <a:ext cx="1417320" cy="365760"/>
          </a:xfrm>
          <a:prstGeom prst="roundRect">
            <a:avLst>
              <a:gd name="adj" fmla="val 50000"/>
            </a:avLst>
          </a:prstGeom>
          <a:solidFill>
            <a:schemeClr val="accent6"/>
          </a:solidFill>
          <a:ln w="12700">
            <a:solidFill>
              <a:schemeClr val="accent6"/>
            </a:solidFill>
            <a:prstDash val="solid"/>
          </a:ln>
        </p:spPr>
      </p:sp>
      <p:sp>
        <p:nvSpPr>
          <p:cNvPr id="20" name="Text 18"/>
          <p:cNvSpPr txBox="1"/>
          <p:nvPr/>
        </p:nvSpPr>
        <p:spPr>
          <a:xfrm>
            <a:off x="10012680" y="3511296"/>
            <a:ext cx="1417320" cy="365760"/>
          </a:xfrm>
          <a:prstGeom prst="rect">
            <a:avLst/>
          </a:prstGeom>
          <a:noFill/>
          <a:ln/>
        </p:spPr>
        <p:txBody>
          <a:bodyPr wrap="square" lIns="0" tIns="0" rIns="0" bIns="0" rtlCol="0" anchor="ctr"/>
          <a:lstStyle/>
          <a:p>
            <a:pPr algn="ctr" indent="0" marL="0">
              <a:buNone/>
            </a:pPr>
            <a:r>
              <a:rPr lang="en-US" sz="1200" b="1" dirty="0">
                <a:solidFill>
                  <a:schemeClr val="bg1"/>
                </a:solidFill>
              </a:rPr>
              <a:t>Unsupported</a:t>
            </a:r>
            <a:endParaRPr lang="en-US" sz="1200" dirty="0"/>
          </a:p>
        </p:txBody>
      </p:sp>
      <p:sp>
        <p:nvSpPr>
          <p:cNvPr id="21" name="Question card 4"/>
          <p:cNvSpPr/>
          <p:nvPr/>
        </p:nvSpPr>
        <p:spPr>
          <a:xfrm>
            <a:off x="548640" y="4261104"/>
            <a:ext cx="11064240" cy="914400"/>
          </a:xfrm>
          <a:prstGeom prst="roundRect">
            <a:avLst>
              <a:gd name="adj" fmla="val 8000"/>
            </a:avLst>
          </a:prstGeom>
          <a:solidFill>
            <a:schemeClr val="bg2"/>
          </a:solidFill>
          <a:ln w="12700">
            <a:solidFill>
              <a:schemeClr val="bg2"/>
            </a:solidFill>
            <a:prstDash val="solid"/>
          </a:ln>
        </p:spPr>
      </p:sp>
      <p:sp>
        <p:nvSpPr>
          <p:cNvPr id="22" name="Question badge 4"/>
          <p:cNvSpPr/>
          <p:nvPr/>
        </p:nvSpPr>
        <p:spPr>
          <a:xfrm>
            <a:off x="731520" y="4489704"/>
            <a:ext cx="457200" cy="457200"/>
          </a:xfrm>
          <a:prstGeom prst="ellipse">
            <a:avLst/>
          </a:prstGeom>
          <a:solidFill>
            <a:schemeClr val="accent1"/>
          </a:solidFill>
          <a:ln w="12700">
            <a:solidFill>
              <a:schemeClr val="accent1"/>
            </a:solidFill>
            <a:prstDash val="solid"/>
          </a:ln>
        </p:spPr>
      </p:sp>
      <p:sp>
        <p:nvSpPr>
          <p:cNvPr id="23" name="Text 21"/>
          <p:cNvSpPr txBox="1"/>
          <p:nvPr/>
        </p:nvSpPr>
        <p:spPr>
          <a:xfrm>
            <a:off x="731520" y="4489704"/>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24" name="Question 4"/>
          <p:cNvSpPr txBox="1"/>
          <p:nvPr/>
        </p:nvSpPr>
        <p:spPr>
          <a:xfrm>
            <a:off x="1417320" y="4334256"/>
            <a:ext cx="8412480" cy="768096"/>
          </a:xfrm>
          <a:prstGeom prst="rect">
            <a:avLst/>
          </a:prstGeom>
          <a:noFill/>
          <a:ln/>
        </p:spPr>
        <p:txBody>
          <a:bodyPr wrap="square" lIns="0" tIns="0" rIns="0" bIns="0" rtlCol="0" anchor="ctr"/>
          <a:lstStyle/>
          <a:p>
            <a:pPr indent="0" marL="0">
              <a:buNone/>
            </a:pPr>
            <a:r>
              <a:rPr lang="en-US" sz="1400" dirty="0">
                <a:solidFill>
                  <a:schemeClr val="tx1"/>
                </a:solidFill>
              </a:rPr>
              <a:t>About $5,000 per location was quoted to Ian on 9/10 and the agreement went out 9/24, while the deal desk approval is logged 10/1. Which price, cost-per-location line and 5 percent renewal cap are in the agreement Bluebird holds?</a:t>
            </a:r>
            <a:endParaRPr lang="en-US" sz="1400" dirty="0"/>
          </a:p>
        </p:txBody>
      </p:sp>
      <p:sp>
        <p:nvSpPr>
          <p:cNvPr id="25" name="Question tag 4"/>
          <p:cNvSpPr/>
          <p:nvPr/>
        </p:nvSpPr>
        <p:spPr>
          <a:xfrm>
            <a:off x="10012680" y="4535424"/>
            <a:ext cx="1417320" cy="365760"/>
          </a:xfrm>
          <a:prstGeom prst="roundRect">
            <a:avLst>
              <a:gd name="adj" fmla="val 50000"/>
            </a:avLst>
          </a:prstGeom>
          <a:solidFill>
            <a:schemeClr val="accent6"/>
          </a:solidFill>
          <a:ln w="12700">
            <a:solidFill>
              <a:schemeClr val="accent6"/>
            </a:solidFill>
            <a:prstDash val="solid"/>
          </a:ln>
        </p:spPr>
      </p:sp>
      <p:sp>
        <p:nvSpPr>
          <p:cNvPr id="26" name="Text 24"/>
          <p:cNvSpPr txBox="1"/>
          <p:nvPr/>
        </p:nvSpPr>
        <p:spPr>
          <a:xfrm>
            <a:off x="10012680" y="4535424"/>
            <a:ext cx="1417320" cy="365760"/>
          </a:xfrm>
          <a:prstGeom prst="rect">
            <a:avLst/>
          </a:prstGeom>
          <a:noFill/>
          <a:ln/>
        </p:spPr>
        <p:txBody>
          <a:bodyPr wrap="square" lIns="0" tIns="0" rIns="0" bIns="0" rtlCol="0" anchor="ctr"/>
          <a:lstStyle/>
          <a:p>
            <a:pPr algn="ctr" indent="0" marL="0">
              <a:buNone/>
            </a:pPr>
            <a:r>
              <a:rPr lang="en-US" sz="1200" b="1" dirty="0">
                <a:solidFill>
                  <a:schemeClr val="bg1"/>
                </a:solidFill>
              </a:rPr>
              <a:t>Unsupported</a:t>
            </a:r>
            <a:endParaRPr lang="en-US" sz="1200" dirty="0"/>
          </a:p>
        </p:txBody>
      </p:sp>
      <p:sp>
        <p:nvSpPr>
          <p:cNvPr id="27" name="Question card 5"/>
          <p:cNvSpPr/>
          <p:nvPr/>
        </p:nvSpPr>
        <p:spPr>
          <a:xfrm>
            <a:off x="548640" y="5285232"/>
            <a:ext cx="11064240" cy="914400"/>
          </a:xfrm>
          <a:prstGeom prst="roundRect">
            <a:avLst>
              <a:gd name="adj" fmla="val 8000"/>
            </a:avLst>
          </a:prstGeom>
          <a:solidFill>
            <a:schemeClr val="bg2"/>
          </a:solidFill>
          <a:ln w="12700">
            <a:solidFill>
              <a:schemeClr val="bg2"/>
            </a:solidFill>
            <a:prstDash val="solid"/>
          </a:ln>
        </p:spPr>
      </p:sp>
      <p:sp>
        <p:nvSpPr>
          <p:cNvPr id="28" name="Question badge 5"/>
          <p:cNvSpPr/>
          <p:nvPr/>
        </p:nvSpPr>
        <p:spPr>
          <a:xfrm>
            <a:off x="731520" y="5513832"/>
            <a:ext cx="457200" cy="457200"/>
          </a:xfrm>
          <a:prstGeom prst="ellipse">
            <a:avLst/>
          </a:prstGeom>
          <a:solidFill>
            <a:schemeClr val="accent1"/>
          </a:solidFill>
          <a:ln w="12700">
            <a:solidFill>
              <a:schemeClr val="accent1"/>
            </a:solidFill>
            <a:prstDash val="solid"/>
          </a:ln>
        </p:spPr>
      </p:sp>
      <p:sp>
        <p:nvSpPr>
          <p:cNvPr id="29" name="Text 27"/>
          <p:cNvSpPr txBox="1"/>
          <p:nvPr/>
        </p:nvSpPr>
        <p:spPr>
          <a:xfrm>
            <a:off x="731520" y="5513832"/>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5</a:t>
            </a:r>
            <a:endParaRPr lang="en-US" sz="1600" dirty="0"/>
          </a:p>
        </p:txBody>
      </p:sp>
      <p:sp>
        <p:nvSpPr>
          <p:cNvPr id="30" name="Question 5"/>
          <p:cNvSpPr txBox="1"/>
          <p:nvPr/>
        </p:nvSpPr>
        <p:spPr>
          <a:xfrm>
            <a:off x="1417320" y="5358384"/>
            <a:ext cx="8412480" cy="768096"/>
          </a:xfrm>
          <a:prstGeom prst="rect">
            <a:avLst/>
          </a:prstGeom>
          <a:noFill/>
          <a:ln/>
        </p:spPr>
        <p:txBody>
          <a:bodyPr wrap="square" lIns="0" tIns="0" rIns="0" bIns="0" rtlCol="0" anchor="ctr"/>
          <a:lstStyle/>
          <a:p>
            <a:pPr indent="0" marL="0">
              <a:buNone/>
            </a:pPr>
            <a:r>
              <a:rPr lang="en-US" sz="1400" dirty="0">
                <a:solidFill>
                  <a:schemeClr val="tx1"/>
                </a:solidFill>
              </a:rPr>
              <a:t>Tom has volunteered twice but has not been asked for anything that costs him. What is the ask, and when does it land?</a:t>
            </a:r>
            <a:endParaRPr lang="en-US" sz="1400" dirty="0"/>
          </a:p>
        </p:txBody>
      </p:sp>
      <p:sp>
        <p:nvSpPr>
          <p:cNvPr id="31" name="Question tag 5"/>
          <p:cNvSpPr/>
          <p:nvPr/>
        </p:nvSpPr>
        <p:spPr>
          <a:xfrm>
            <a:off x="10012680" y="5559552"/>
            <a:ext cx="1417320" cy="365760"/>
          </a:xfrm>
          <a:prstGeom prst="roundRect">
            <a:avLst>
              <a:gd name="adj" fmla="val 50000"/>
            </a:avLst>
          </a:prstGeom>
          <a:solidFill>
            <a:schemeClr val="accent4"/>
          </a:solidFill>
          <a:ln w="12700">
            <a:solidFill>
              <a:schemeClr val="accent4"/>
            </a:solidFill>
            <a:prstDash val="solid"/>
          </a:ln>
        </p:spPr>
      </p:sp>
      <p:sp>
        <p:nvSpPr>
          <p:cNvPr id="32" name="Text 30"/>
          <p:cNvSpPr txBox="1"/>
          <p:nvPr/>
        </p:nvSpPr>
        <p:spPr>
          <a:xfrm>
            <a:off x="10012680" y="5559552"/>
            <a:ext cx="1417320" cy="365760"/>
          </a:xfrm>
          <a:prstGeom prst="rect">
            <a:avLst/>
          </a:prstGeom>
          <a:noFill/>
          <a:ln/>
        </p:spPr>
        <p:txBody>
          <a:bodyPr wrap="square" lIns="0" tIns="0" rIns="0" bIns="0" rtlCol="0" anchor="ctr"/>
          <a:lstStyle/>
          <a:p>
            <a:pPr algn="ctr" indent="0" marL="0">
              <a:buNone/>
            </a:pPr>
            <a:r>
              <a:rPr lang="en-US" sz="1200" b="1" dirty="0">
                <a:solidFill>
                  <a:schemeClr val="tx1"/>
                </a:solidFill>
              </a:rPr>
              <a:t>Proposed</a:t>
            </a:r>
            <a:endParaRPr lang="en-US" sz="1200" dirty="0"/>
          </a:p>
        </p:txBody>
      </p:sp>
      <p:sp>
        <p:nvSpPr>
          <p:cNvPr id="25" name="Slide Number Placeholder 0"/>
          <p:cNvSpPr>
            <a:spLocks noGrp="1"/>
          </p:cNvSpPr>
          <p:nvPr>
            <p:ph type="sldNum" sz="quarter" idx="4294967295"/>
          </p:nvPr>
        </p:nvSpPr>
        <p:spPr>
          <a:xfrm>
            <a:off x="11247120" y="6419088"/>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000" b="1" dirty="0">
                <a:solidFill>
                  <a:schemeClr val="tx1"/>
                </a:solidFill>
              </a:rPr>
              <a:t>Plan for this week and next</a:t>
            </a:r>
            <a:endParaRPr lang="en-US" sz="3000" dirty="0"/>
          </a:p>
        </p:txBody>
      </p:sp>
      <p:graphicFrame>
        <p:nvGraphicFramePr>
          <p:cNvPr id="11" name="Next steps table"/>
          <p:cNvGraphicFramePr>
            <a:graphicFrameLocks noGrp="1"/>
          </p:cNvGraphicFramePr>
          <p:nvPr>
            <p:extLst>
              <p:ext uri="{D42A27DB-BD31-4B8C-83A1-F6EECF244321}">
                <p14:modId xmlns:p14="http://schemas.microsoft.com/office/powerpoint/2010/main" val="1579011935"/>
              </p:ext>
            </p:extLst>
          </p:nvPr>
        </p:nvGraphicFramePr>
        <p:xfrm>
          <a:off x="548640" y="1188720"/>
          <a:ext cx="11064240" cy="914400"/>
        </p:xfrm>
        <a:graphic>
          <a:graphicData uri="http://schemas.openxmlformats.org/drawingml/2006/table">
            <a:tbl>
              <a:tblPr/>
              <a:tblGrid>
                <a:gridCol w="6858000"/>
                <a:gridCol w="2651760"/>
                <a:gridCol w="1554480"/>
              </a:tblGrid>
              <a:tr h="347472">
                <a:tc>
                  <a:txBody>
                    <a:bodyPr/>
                    <a:lstStyle/>
                    <a:p>
                      <a:pPr indent="0" marL="0">
                        <a:buNone/>
                      </a:pPr>
                      <a:r>
                        <a:rPr lang="en-US" sz="1100" b="1" dirty="0">
                          <a:solidFill>
                            <a:schemeClr val="bg1"/>
                          </a:solidFill>
                        </a:rPr>
                        <a:t>Action</a:t>
                      </a:r>
                      <a:endParaRPr lang="en-US" sz="1100" dirty="0"/>
                    </a:p>
                  </a:txBody>
                  <a:tcPr marL="73152" marR="73152" marT="27432" marB="27432"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chemeClr val="tx2"/>
                    </a:solidFill>
                  </a:tcPr>
                </a:tc>
                <a:tc>
                  <a:txBody>
                    <a:bodyPr/>
                    <a:lstStyle/>
                    <a:p>
                      <a:pPr indent="0" marL="0">
                        <a:buNone/>
                      </a:pPr>
                      <a:r>
                        <a:rPr lang="en-US" sz="1100" b="1" dirty="0">
                          <a:solidFill>
                            <a:schemeClr val="bg1"/>
                          </a:solidFill>
                        </a:rPr>
                        <a:t>Owner</a:t>
                      </a:r>
                      <a:endParaRPr lang="en-US" sz="1100" dirty="0"/>
                    </a:p>
                  </a:txBody>
                  <a:tcPr marL="73152" marR="73152" marT="27432" marB="27432"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chemeClr val="tx2"/>
                    </a:solidFill>
                  </a:tcPr>
                </a:tc>
                <a:tc>
                  <a:txBody>
                    <a:bodyPr/>
                    <a:lstStyle/>
                    <a:p>
                      <a:pPr indent="0" marL="0">
                        <a:buNone/>
                      </a:pPr>
                      <a:r>
                        <a:rPr lang="en-US" sz="1100" b="1" dirty="0">
                          <a:solidFill>
                            <a:schemeClr val="bg1"/>
                          </a:solidFill>
                        </a:rPr>
                        <a:t>Due date</a:t>
                      </a:r>
                      <a:endParaRPr lang="en-US" sz="1100" dirty="0"/>
                    </a:p>
                  </a:txBody>
                  <a:tcPr marL="73152" marR="73152" marT="27432" marB="27432"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chemeClr val="tx2"/>
                    </a:solidFill>
                  </a:tcPr>
                </a:tc>
              </a:tr>
              <a:tr h="566928">
                <a:tc>
                  <a:txBody>
                    <a:bodyPr/>
                    <a:lstStyle/>
                    <a:p>
                      <a:pPr indent="0" marL="0">
                        <a:buNone/>
                      </a:pPr>
                      <a:r>
                        <a:rPr lang="en-US" sz="1200" dirty="0">
                          <a:solidFill>
                            <a:schemeClr val="tx1"/>
                          </a:solidFill>
                        </a:rPr>
                        <a:t>Get the deal desk and finance position on payment terms between net 30 and net 60</a:t>
                      </a:r>
                      <a:endParaRPr lang="en-US" sz="1200" dirty="0"/>
                    </a:p>
                  </a:txBody>
                  <a:tcPr marL="73152" marR="73152" marT="27432" marB="27432"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tcPr>
                </a:tc>
                <a:tc>
                  <a:txBody>
                    <a:bodyPr/>
                    <a:lstStyle/>
                    <a:p>
                      <a:pPr indent="0" marL="0">
                        <a:buNone/>
                      </a:pPr>
                      <a:r>
                        <a:rPr lang="en-US" sz="1200" dirty="0">
                          <a:solidFill>
                            <a:schemeClr val="tx1"/>
                          </a:solidFill>
                        </a:rPr>
                        <a:t>Maya Patel</a:t>
                      </a:r>
                      <a:endParaRPr lang="en-US" sz="1200" dirty="0"/>
                    </a:p>
                  </a:txBody>
                  <a:tcPr marL="73152" marR="73152" marT="27432" marB="27432"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tcPr>
                </a:tc>
                <a:tc>
                  <a:txBody>
                    <a:bodyPr/>
                    <a:lstStyle/>
                    <a:p>
                      <a:pPr algn="ctr" indent="0" marL="0">
                        <a:buNone/>
                      </a:pPr>
                      <a:r>
                        <a:rPr lang="en-US" sz="1200" b="1" dirty="0">
                          <a:solidFill>
                            <a:schemeClr val="tx1"/>
                          </a:solidFill>
                        </a:rPr>
                        <a:t>Thu 10/8</a:t>
                      </a:r>
                      <a:endParaRPr lang="en-US" sz="1200" dirty="0"/>
                    </a:p>
                  </a:txBody>
                  <a:tcPr marL="73152" marR="73152" marT="27432" marB="27432"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tcPr>
                </a:tc>
              </a:tr>
              <a:tr h="566928">
                <a:tc>
                  <a:txBody>
                    <a:bodyPr/>
                    <a:lstStyle/>
                    <a:p>
                      <a:pPr indent="0" marL="0">
                        <a:buNone/>
                      </a:pPr>
                      <a:r>
                        <a:rPr lang="en-US" sz="1200" dirty="0">
                          <a:solidFill>
                            <a:schemeClr val="tx1"/>
                          </a:solidFill>
                        </a:rPr>
                        <a:t>Check the 9/24 agreement and 10/3 redline for the price, cost-per-location line and 5 percent renewal cap, and the scope of the 10/1 approval</a:t>
                      </a:r>
                      <a:endParaRPr lang="en-US" sz="1200" dirty="0"/>
                    </a:p>
                  </a:txBody>
                  <a:tcPr marL="73152" marR="73152" marT="27432" marB="27432"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tcPr>
                </a:tc>
                <a:tc>
                  <a:txBody>
                    <a:bodyPr/>
                    <a:lstStyle/>
                    <a:p>
                      <a:pPr indent="0" marL="0">
                        <a:buNone/>
                      </a:pPr>
                      <a:r>
                        <a:rPr lang="en-US" sz="1200" dirty="0">
                          <a:solidFill>
                            <a:schemeClr val="tx1"/>
                          </a:solidFill>
                        </a:rPr>
                        <a:t>Maya Patel</a:t>
                      </a:r>
                      <a:endParaRPr lang="en-US" sz="1200" dirty="0"/>
                    </a:p>
                  </a:txBody>
                  <a:tcPr marL="73152" marR="73152" marT="27432" marB="27432"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tcPr>
                </a:tc>
                <a:tc>
                  <a:txBody>
                    <a:bodyPr/>
                    <a:lstStyle/>
                    <a:p>
                      <a:pPr algn="ctr" indent="0" marL="0">
                        <a:buNone/>
                      </a:pPr>
                      <a:r>
                        <a:rPr lang="en-US" sz="1200" b="1" dirty="0">
                          <a:solidFill>
                            <a:schemeClr val="tx1"/>
                          </a:solidFill>
                        </a:rPr>
                        <a:t>Thu 10/8</a:t>
                      </a:r>
                      <a:endParaRPr lang="en-US" sz="1200" dirty="0"/>
                    </a:p>
                  </a:txBody>
                  <a:tcPr marL="73152" marR="73152" marT="27432" marB="27432"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tcPr>
                </a:tc>
              </a:tr>
              <a:tr h="566928">
                <a:tc>
                  <a:txBody>
                    <a:bodyPr/>
                    <a:lstStyle/>
                    <a:p>
                      <a:pPr indent="0" marL="0">
                        <a:buNone/>
                      </a:pPr>
                      <a:r>
                        <a:rPr lang="en-US" sz="1200" dirty="0">
                          <a:solidFill>
                            <a:schemeClr val="tx1"/>
                          </a:solidFill>
                        </a:rPr>
                        <a:t>Sign off on our section 9 data-breach carve-out change</a:t>
                      </a:r>
                      <a:endParaRPr lang="en-US" sz="1200" dirty="0"/>
                    </a:p>
                  </a:txBody>
                  <a:tcPr marL="73152" marR="73152" marT="27432" marB="27432"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tcPr>
                </a:tc>
                <a:tc>
                  <a:txBody>
                    <a:bodyPr/>
                    <a:lstStyle/>
                    <a:p>
                      <a:pPr indent="0" marL="0">
                        <a:buNone/>
                      </a:pPr>
                      <a:r>
                        <a:rPr lang="en-US" sz="1200" dirty="0">
                          <a:solidFill>
                            <a:schemeClr val="tx1"/>
                          </a:solidFill>
                        </a:rPr>
                        <a:t>Orbit legal, requested by Maya</a:t>
                      </a:r>
                      <a:endParaRPr lang="en-US" sz="1200" dirty="0"/>
                    </a:p>
                  </a:txBody>
                  <a:tcPr marL="73152" marR="73152" marT="27432" marB="27432"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tcPr>
                </a:tc>
                <a:tc>
                  <a:txBody>
                    <a:bodyPr/>
                    <a:lstStyle/>
                    <a:p>
                      <a:pPr algn="ctr" indent="0" marL="0">
                        <a:buNone/>
                      </a:pPr>
                      <a:r>
                        <a:rPr lang="en-US" sz="1200" b="1" dirty="0">
                          <a:solidFill>
                            <a:schemeClr val="tx1"/>
                          </a:solidFill>
                        </a:rPr>
                        <a:t>Fri 10/9</a:t>
                      </a:r>
                      <a:endParaRPr lang="en-US" sz="1200" dirty="0"/>
                    </a:p>
                  </a:txBody>
                  <a:tcPr marL="73152" marR="73152" marT="27432" marB="27432"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tcPr>
                </a:tc>
              </a:tr>
              <a:tr h="566928">
                <a:tc>
                  <a:txBody>
                    <a:bodyPr/>
                    <a:lstStyle/>
                    <a:p>
                      <a:pPr indent="0" marL="0">
                        <a:buNone/>
                      </a:pPr>
                      <a:r>
                        <a:rPr lang="en-US" sz="1200" dirty="0">
                          <a:solidFill>
                            <a:schemeClr val="tx1"/>
                          </a:solidFill>
                        </a:rPr>
                        <a:t>Champion test: ask Tom to bring Ian to the payment-terms call or get Ian's position in writing</a:t>
                      </a:r>
                      <a:endParaRPr lang="en-US" sz="1200" dirty="0"/>
                    </a:p>
                  </a:txBody>
                  <a:tcPr marL="73152" marR="73152" marT="27432" marB="27432"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tcPr>
                </a:tc>
                <a:tc>
                  <a:txBody>
                    <a:bodyPr/>
                    <a:lstStyle/>
                    <a:p>
                      <a:pPr indent="0" marL="0">
                        <a:buNone/>
                      </a:pPr>
                      <a:r>
                        <a:rPr lang="en-US" sz="1200" dirty="0">
                          <a:solidFill>
                            <a:schemeClr val="tx1"/>
                          </a:solidFill>
                        </a:rPr>
                        <a:t>Tom Kessler, asked by Maya</a:t>
                      </a:r>
                      <a:endParaRPr lang="en-US" sz="1200" dirty="0"/>
                    </a:p>
                  </a:txBody>
                  <a:tcPr marL="73152" marR="73152" marT="27432" marB="27432"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tcPr>
                </a:tc>
                <a:tc>
                  <a:txBody>
                    <a:bodyPr/>
                    <a:lstStyle/>
                    <a:p>
                      <a:pPr algn="ctr" indent="0" marL="0">
                        <a:buNone/>
                      </a:pPr>
                      <a:r>
                        <a:rPr lang="en-US" sz="1200" b="1" dirty="0">
                          <a:solidFill>
                            <a:schemeClr val="tx1"/>
                          </a:solidFill>
                        </a:rPr>
                        <a:t>Fri 10/9</a:t>
                      </a:r>
                      <a:endParaRPr lang="en-US" sz="1200" dirty="0"/>
                    </a:p>
                  </a:txBody>
                  <a:tcPr marL="73152" marR="73152" marT="27432" marB="27432"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tcPr>
                </a:tc>
              </a:tr>
              <a:tr h="566928">
                <a:tc>
                  <a:txBody>
                    <a:bodyPr/>
                    <a:lstStyle/>
                    <a:p>
                      <a:pPr indent="0" marL="0">
                        <a:buNone/>
                      </a:pPr>
                      <a:r>
                        <a:rPr lang="en-US" sz="1200" dirty="0">
                          <a:solidFill>
                            <a:schemeClr val="tx1"/>
                          </a:solidFill>
                        </a:rPr>
                        <a:t>Hold the payment-terms call with Raquel (and Ian) offered in the 10/3 email</a:t>
                      </a:r>
                      <a:endParaRPr lang="en-US" sz="1200" dirty="0"/>
                    </a:p>
                  </a:txBody>
                  <a:tcPr marL="73152" marR="73152" marT="27432" marB="27432"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tcPr>
                </a:tc>
                <a:tc>
                  <a:txBody>
                    <a:bodyPr/>
                    <a:lstStyle/>
                    <a:p>
                      <a:pPr indent="0" marL="0">
                        <a:buNone/>
                      </a:pPr>
                      <a:r>
                        <a:rPr lang="en-US" sz="1200" dirty="0">
                          <a:solidFill>
                            <a:schemeClr val="tx1"/>
                          </a:solidFill>
                        </a:rPr>
                        <a:t>Maya Patel</a:t>
                      </a:r>
                      <a:endParaRPr lang="en-US" sz="1200" dirty="0"/>
                    </a:p>
                  </a:txBody>
                  <a:tcPr marL="73152" marR="73152" marT="27432" marB="27432"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tcPr>
                </a:tc>
                <a:tc>
                  <a:txBody>
                    <a:bodyPr/>
                    <a:lstStyle/>
                    <a:p>
                      <a:pPr algn="ctr" indent="0" marL="0">
                        <a:buNone/>
                      </a:pPr>
                      <a:r>
                        <a:rPr lang="en-US" sz="1200" b="1" dirty="0">
                          <a:solidFill>
                            <a:schemeClr val="tx1"/>
                          </a:solidFill>
                        </a:rPr>
                        <a:t>Fri 10/9</a:t>
                      </a:r>
                      <a:endParaRPr lang="en-US" sz="1200" dirty="0"/>
                    </a:p>
                  </a:txBody>
                  <a:tcPr marL="73152" marR="73152" marT="27432" marB="27432"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tcPr>
                </a:tc>
              </a:tr>
              <a:tr h="566928">
                <a:tc>
                  <a:txBody>
                    <a:bodyPr/>
                    <a:lstStyle/>
                    <a:p>
                      <a:pPr indent="0" marL="0">
                        <a:buNone/>
                      </a:pPr>
                      <a:r>
                        <a:rPr lang="en-US" sz="1200" dirty="0">
                          <a:solidFill>
                            <a:schemeClr val="tx1"/>
                          </a:solidFill>
                        </a:rPr>
                        <a:t>Receive the signer's name and title for Bluebird Dental Holdings LLC and add the signature block</a:t>
                      </a:r>
                      <a:endParaRPr lang="en-US" sz="1200" dirty="0"/>
                    </a:p>
                  </a:txBody>
                  <a:tcPr marL="73152" marR="73152" marT="27432" marB="27432"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tcPr>
                </a:tc>
                <a:tc>
                  <a:txBody>
                    <a:bodyPr/>
                    <a:lstStyle/>
                    <a:p>
                      <a:pPr indent="0" marL="0">
                        <a:buNone/>
                      </a:pPr>
                      <a:r>
                        <a:rPr lang="en-US" sz="1200" dirty="0">
                          <a:solidFill>
                            <a:schemeClr val="tx1"/>
                          </a:solidFill>
                        </a:rPr>
                        <a:t>Maya Patel, from Raquel</a:t>
                      </a:r>
                      <a:endParaRPr lang="en-US" sz="1200" dirty="0"/>
                    </a:p>
                  </a:txBody>
                  <a:tcPr marL="73152" marR="73152" marT="27432" marB="27432"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tcPr>
                </a:tc>
                <a:tc>
                  <a:txBody>
                    <a:bodyPr/>
                    <a:lstStyle/>
                    <a:p>
                      <a:pPr algn="ctr" indent="0" marL="0">
                        <a:buNone/>
                      </a:pPr>
                      <a:r>
                        <a:rPr lang="en-US" sz="1200" b="1" dirty="0">
                          <a:solidFill>
                            <a:schemeClr val="tx1"/>
                          </a:solidFill>
                        </a:rPr>
                        <a:t>Mon 10/12</a:t>
                      </a:r>
                      <a:endParaRPr lang="en-US" sz="1200" dirty="0"/>
                    </a:p>
                  </a:txBody>
                  <a:tcPr marL="73152" marR="73152" marT="27432" marB="27432"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tcPr>
                </a:tc>
              </a:tr>
              <a:tr h="566928">
                <a:tc>
                  <a:txBody>
                    <a:bodyPr/>
                    <a:lstStyle/>
                    <a:p>
                      <a:pPr indent="0" marL="0">
                        <a:buNone/>
                      </a:pPr>
                      <a:r>
                        <a:rPr lang="en-US" sz="1200" dirty="0">
                          <a:solidFill>
                            <a:schemeClr val="tx1"/>
                          </a:solidFill>
                        </a:rPr>
                        <a:t>Correct the CRM record: add Priya Anand, update Paper Process, Next Step and the 10/5 note (via the CRM deal updater)</a:t>
                      </a:r>
                      <a:endParaRPr lang="en-US" sz="1200" dirty="0"/>
                    </a:p>
                  </a:txBody>
                  <a:tcPr marL="73152" marR="73152" marT="27432" marB="27432"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tcPr>
                </a:tc>
                <a:tc>
                  <a:txBody>
                    <a:bodyPr/>
                    <a:lstStyle/>
                    <a:p>
                      <a:pPr indent="0" marL="0">
                        <a:buNone/>
                      </a:pPr>
                      <a:r>
                        <a:rPr lang="en-US" sz="1200" dirty="0">
                          <a:solidFill>
                            <a:schemeClr val="tx1"/>
                          </a:solidFill>
                        </a:rPr>
                        <a:t>Maya Patel</a:t>
                      </a:r>
                      <a:endParaRPr lang="en-US" sz="1200" dirty="0"/>
                    </a:p>
                  </a:txBody>
                  <a:tcPr marL="73152" marR="73152" marT="27432" marB="27432"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tcPr>
                </a:tc>
                <a:tc>
                  <a:txBody>
                    <a:bodyPr/>
                    <a:lstStyle/>
                    <a:p>
                      <a:pPr algn="ctr" indent="0" marL="0">
                        <a:buNone/>
                      </a:pPr>
                      <a:r>
                        <a:rPr lang="en-US" sz="1200" b="1" dirty="0">
                          <a:solidFill>
                            <a:schemeClr val="tx1"/>
                          </a:solidFill>
                        </a:rPr>
                        <a:t>Mon 10/12</a:t>
                      </a:r>
                      <a:endParaRPr lang="en-US" sz="1200" dirty="0"/>
                    </a:p>
                  </a:txBody>
                  <a:tcPr marL="73152" marR="73152" marT="27432" marB="27432"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tcPr>
                </a:tc>
              </a:tr>
              <a:tr h="566928">
                <a:tc>
                  <a:txBody>
                    <a:bodyPr/>
                    <a:lstStyle/>
                    <a:p>
                      <a:pPr indent="0" marL="0">
                        <a:buNone/>
                      </a:pPr>
                      <a:r>
                        <a:rPr lang="en-US" sz="1200" dirty="0">
                          <a:solidFill>
                            <a:schemeClr val="tx1"/>
                          </a:solidFill>
                        </a:rPr>
                        <a:t>Forecast checkpoint against the downgrade triggers; ask Tom and Raquel for a double-booking and no-show baseline</a:t>
                      </a:r>
                      <a:endParaRPr lang="en-US" sz="1200" dirty="0"/>
                    </a:p>
                  </a:txBody>
                  <a:tcPr marL="73152" marR="73152" marT="27432" marB="27432"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tcPr>
                </a:tc>
                <a:tc>
                  <a:txBody>
                    <a:bodyPr/>
                    <a:lstStyle/>
                    <a:p>
                      <a:pPr indent="0" marL="0">
                        <a:buNone/>
                      </a:pPr>
                      <a:r>
                        <a:rPr lang="en-US" sz="1200" dirty="0">
                          <a:solidFill>
                            <a:schemeClr val="tx1"/>
                          </a:solidFill>
                        </a:rPr>
                        <a:t>Maya Patel and the reviewing manager</a:t>
                      </a:r>
                      <a:endParaRPr lang="en-US" sz="1200" dirty="0"/>
                    </a:p>
                  </a:txBody>
                  <a:tcPr marL="73152" marR="73152" marT="27432" marB="27432"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tcPr>
                </a:tc>
                <a:tc>
                  <a:txBody>
                    <a:bodyPr/>
                    <a:lstStyle/>
                    <a:p>
                      <a:pPr algn="ctr" indent="0" marL="0">
                        <a:buNone/>
                      </a:pPr>
                      <a:r>
                        <a:rPr lang="en-US" sz="1200" b="1" dirty="0">
                          <a:solidFill>
                            <a:schemeClr val="tx1"/>
                          </a:solidFill>
                        </a:rPr>
                        <a:t>Wed 10/14</a:t>
                      </a:r>
                      <a:endParaRPr lang="en-US" sz="1200" dirty="0"/>
                    </a:p>
                  </a:txBody>
                  <a:tcPr marL="73152" marR="73152" marT="27432" marB="27432"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247120" y="6419088"/>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000" b="1" dirty="0">
                <a:solidFill>
                  <a:schemeClr val="tx1"/>
                </a:solidFill>
              </a:rPr>
              <a:t>Asks of the panel and downgrade triggers</a:t>
            </a:r>
            <a:endParaRPr lang="en-US" sz="3000" dirty="0"/>
          </a:p>
        </p:txBody>
      </p:sp>
      <p:sp>
        <p:nvSpPr>
          <p:cNvPr id="3" name="Asks card"/>
          <p:cNvSpPr/>
          <p:nvPr/>
        </p:nvSpPr>
        <p:spPr>
          <a:xfrm>
            <a:off x="548640" y="1188720"/>
            <a:ext cx="5486400" cy="4023360"/>
          </a:xfrm>
          <a:prstGeom prst="roundRect">
            <a:avLst>
              <a:gd name="adj" fmla="val 1818"/>
            </a:avLst>
          </a:prstGeom>
          <a:solidFill>
            <a:schemeClr val="bg2"/>
          </a:solidFill>
          <a:ln w="12700">
            <a:solidFill>
              <a:schemeClr val="bg2"/>
            </a:solidFill>
            <a:prstDash val="solid"/>
          </a:ln>
        </p:spPr>
      </p:sp>
      <p:sp>
        <p:nvSpPr>
          <p:cNvPr id="4" name="Text 2"/>
          <p:cNvSpPr txBox="1"/>
          <p:nvPr/>
        </p:nvSpPr>
        <p:spPr>
          <a:xfrm>
            <a:off x="777240" y="1325880"/>
            <a:ext cx="5029200" cy="365760"/>
          </a:xfrm>
          <a:prstGeom prst="rect">
            <a:avLst/>
          </a:prstGeom>
          <a:noFill/>
          <a:ln/>
        </p:spPr>
        <p:txBody>
          <a:bodyPr wrap="square" lIns="0" tIns="0" rIns="0" bIns="0" rtlCol="0" anchor="ctr"/>
          <a:lstStyle/>
          <a:p>
            <a:pPr indent="0" marL="0">
              <a:buNone/>
            </a:pPr>
            <a:r>
              <a:rPr lang="en-US" sz="2000" b="1" dirty="0">
                <a:solidFill>
                  <a:schemeClr val="tx2"/>
                </a:solidFill>
              </a:rPr>
              <a:t>Asks of the panel</a:t>
            </a:r>
            <a:endParaRPr lang="en-US" sz="2000" dirty="0"/>
          </a:p>
        </p:txBody>
      </p:sp>
      <p:sp>
        <p:nvSpPr>
          <p:cNvPr id="5" name="Asks list"/>
          <p:cNvSpPr txBox="1"/>
          <p:nvPr/>
        </p:nvSpPr>
        <p:spPr>
          <a:xfrm>
            <a:off x="777240" y="1828800"/>
            <a:ext cx="5029200" cy="3291840"/>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chemeClr val="tx1"/>
                </a:solidFill>
              </a:rPr>
              <a:t>Deal desk and finance: a payment-terms position by Thu 10/8, with room between net 30 and net 60.</a:t>
            </a:r>
            <a:endParaRPr lang="en-US" sz="1400" dirty="0"/>
          </a:p>
          <a:p>
            <a:pPr marL="342900" indent="-342900">
              <a:spcAft>
                <a:spcPts val="500"/>
              </a:spcAft>
              <a:buSzPct val="100000"/>
              <a:buChar char="•"/>
            </a:pPr>
            <a:r>
              <a:rPr lang="en-US" sz="1400" dirty="0">
                <a:solidFill>
                  <a:schemeClr val="tx1"/>
                </a:solidFill>
              </a:rPr>
              <a:t>Legal: review of our section 9 data-breach carve-out by Fri 10/9, ahead of Priya Anand's read.</a:t>
            </a:r>
            <a:endParaRPr lang="en-US" sz="1400" dirty="0"/>
          </a:p>
          <a:p>
            <a:pPr marL="342900" indent="-342900">
              <a:spcAft>
                <a:spcPts val="500"/>
              </a:spcAft>
              <a:buSzPct val="100000"/>
              <a:buChar char="•"/>
            </a:pPr>
            <a:r>
              <a:rPr lang="en-US" sz="1400" dirty="0">
                <a:solidFill>
                  <a:schemeClr val="tx1"/>
                </a:solidFill>
              </a:rPr>
              <a:t>Optional senior Orbit contact for Ian, decided by Fri 10/9. Only Maya has appeared in any record, and Ian has had one touch.</a:t>
            </a:r>
            <a:endParaRPr lang="en-US" sz="1400" dirty="0"/>
          </a:p>
          <a:p>
            <a:pPr marL="342900" indent="-342900">
              <a:spcAft>
                <a:spcPts val="500"/>
              </a:spcAft>
              <a:buSzPct val="100000"/>
              <a:buChar char="•"/>
            </a:pPr>
            <a:r>
              <a:rPr lang="en-US" sz="1400" dirty="0">
                <a:solidFill>
                  <a:schemeClr val="tx1"/>
                </a:solidFill>
              </a:rPr>
              <a:t>Implementation: confirm capacity for the Mon 11/2 kickoff of twelve locations and the Mon 11/16 parallel run, by Fri 10/9.</a:t>
            </a:r>
            <a:endParaRPr lang="en-US" sz="1400" dirty="0"/>
          </a:p>
        </p:txBody>
      </p:sp>
      <p:sp>
        <p:nvSpPr>
          <p:cNvPr id="6" name="Triggers card"/>
          <p:cNvSpPr/>
          <p:nvPr/>
        </p:nvSpPr>
        <p:spPr>
          <a:xfrm>
            <a:off x="6217920" y="1188720"/>
            <a:ext cx="5394960" cy="4023360"/>
          </a:xfrm>
          <a:prstGeom prst="roundRect">
            <a:avLst>
              <a:gd name="adj" fmla="val 1818"/>
            </a:avLst>
          </a:prstGeom>
          <a:solidFill>
            <a:schemeClr val="bg2"/>
          </a:solidFill>
          <a:ln w="12700">
            <a:solidFill>
              <a:schemeClr val="bg2"/>
            </a:solidFill>
            <a:prstDash val="solid"/>
          </a:ln>
        </p:spPr>
      </p:sp>
      <p:sp>
        <p:nvSpPr>
          <p:cNvPr id="7" name="Text 5"/>
          <p:cNvSpPr txBox="1"/>
          <p:nvPr/>
        </p:nvSpPr>
        <p:spPr>
          <a:xfrm>
            <a:off x="6446520" y="1325880"/>
            <a:ext cx="4937760" cy="365760"/>
          </a:xfrm>
          <a:prstGeom prst="rect">
            <a:avLst/>
          </a:prstGeom>
          <a:noFill/>
          <a:ln/>
        </p:spPr>
        <p:txBody>
          <a:bodyPr wrap="square" lIns="0" tIns="0" rIns="0" bIns="0" rtlCol="0" anchor="ctr"/>
          <a:lstStyle/>
          <a:p>
            <a:pPr indent="0" marL="0">
              <a:buNone/>
            </a:pPr>
            <a:r>
              <a:rPr lang="en-US" sz="2000" b="1" dirty="0">
                <a:solidFill>
                  <a:schemeClr val="accent2"/>
                </a:solidFill>
              </a:rPr>
              <a:t>Downgrade triggers</a:t>
            </a:r>
            <a:endParaRPr lang="en-US" sz="2000" dirty="0"/>
          </a:p>
        </p:txBody>
      </p:sp>
      <p:sp>
        <p:nvSpPr>
          <p:cNvPr id="8" name="Triggers list"/>
          <p:cNvSpPr txBox="1"/>
          <p:nvPr/>
        </p:nvSpPr>
        <p:spPr>
          <a:xfrm>
            <a:off x="6446520" y="1828800"/>
            <a:ext cx="4937760" cy="3291840"/>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chemeClr val="tx1"/>
                </a:solidFill>
              </a:rPr>
              <a:t>Wed 10/14: if the signer is not named, or payment terms are not agreed in principle, move the Forecast Category to Best Case and the read to At risk.</a:t>
            </a:r>
            <a:endParaRPr lang="en-US" sz="1400" dirty="0"/>
          </a:p>
          <a:p>
            <a:pPr marL="342900" indent="-342900">
              <a:spcAft>
                <a:spcPts val="500"/>
              </a:spcAft>
              <a:buSzPct val="100000"/>
              <a:buChar char="•"/>
            </a:pPr>
            <a:r>
              <a:rPr lang="en-US" sz="1400" dirty="0">
                <a:solidFill>
                  <a:schemeClr val="tx1"/>
                </a:solidFill>
              </a:rPr>
              <a:t>Mon 10/12: if nothing has come back from Bluebird (the planned 10/10 reply is a Saturday), write to Raquel directly and ask Tom for status.</a:t>
            </a:r>
            <a:endParaRPr lang="en-US" sz="1400" dirty="0"/>
          </a:p>
          <a:p>
            <a:pPr marL="342900" indent="-342900">
              <a:spcAft>
                <a:spcPts val="500"/>
              </a:spcAft>
              <a:buSzPct val="100000"/>
              <a:buChar char="•"/>
            </a:pPr>
            <a:r>
              <a:rPr lang="en-US" sz="1400" dirty="0">
                <a:solidFill>
                  <a:schemeClr val="tx1"/>
                </a:solidFill>
              </a:rPr>
              <a:t>Fri 10/16: if the agreement is not signed, the Fri 10/23 Close Date has no slack left, and the Mon 11/16 parallel run starts to compress.</a:t>
            </a:r>
            <a:endParaRPr lang="en-US" sz="1400" dirty="0"/>
          </a:p>
        </p:txBody>
      </p:sp>
      <p:sp>
        <p:nvSpPr>
          <p:cNvPr id="25" name="Slide Number Placeholder 0"/>
          <p:cNvSpPr>
            <a:spLocks noGrp="1"/>
          </p:cNvSpPr>
          <p:nvPr>
            <p:ph type="sldNum" sz="quarter" idx="4294967295"/>
          </p:nvPr>
        </p:nvSpPr>
        <p:spPr>
          <a:xfrm>
            <a:off x="11247120" y="6419088"/>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000" b="1" dirty="0">
                <a:solidFill>
                  <a:schemeClr val="tx1"/>
                </a:solidFill>
              </a:rPr>
              <a:t>Sources and assumptions</a:t>
            </a:r>
            <a:endParaRPr lang="en-US" sz="3000" dirty="0"/>
          </a:p>
        </p:txBody>
      </p:sp>
      <p:sp>
        <p:nvSpPr>
          <p:cNvPr id="3" name="Sources card"/>
          <p:cNvSpPr/>
          <p:nvPr/>
        </p:nvSpPr>
        <p:spPr>
          <a:xfrm>
            <a:off x="548640" y="1188720"/>
            <a:ext cx="5394960" cy="5074920"/>
          </a:xfrm>
          <a:prstGeom prst="roundRect">
            <a:avLst>
              <a:gd name="adj" fmla="val 1441"/>
            </a:avLst>
          </a:prstGeom>
          <a:solidFill>
            <a:schemeClr val="bg2"/>
          </a:solidFill>
          <a:ln w="12700">
            <a:solidFill>
              <a:schemeClr val="bg2"/>
            </a:solidFill>
            <a:prstDash val="solid"/>
          </a:ln>
        </p:spPr>
      </p:sp>
      <p:sp>
        <p:nvSpPr>
          <p:cNvPr id="4" name="Text 2"/>
          <p:cNvSpPr txBox="1"/>
          <p:nvPr/>
        </p:nvSpPr>
        <p:spPr>
          <a:xfrm>
            <a:off x="777240" y="1325880"/>
            <a:ext cx="4937760" cy="320040"/>
          </a:xfrm>
          <a:prstGeom prst="rect">
            <a:avLst/>
          </a:prstGeom>
          <a:noFill/>
          <a:ln/>
        </p:spPr>
        <p:txBody>
          <a:bodyPr wrap="square" lIns="0" tIns="0" rIns="0" bIns="0" rtlCol="0" anchor="ctr"/>
          <a:lstStyle/>
          <a:p>
            <a:pPr indent="0" marL="0">
              <a:buNone/>
            </a:pPr>
            <a:r>
              <a:rPr lang="en-US" sz="1600" b="1" dirty="0">
                <a:solidFill>
                  <a:schemeClr val="accent3"/>
                </a:solidFill>
              </a:rPr>
              <a:t>Used</a:t>
            </a:r>
            <a:endParaRPr lang="en-US" sz="1600" dirty="0"/>
          </a:p>
        </p:txBody>
      </p:sp>
      <p:sp>
        <p:nvSpPr>
          <p:cNvPr id="5" name="Text 3"/>
          <p:cNvSpPr txBox="1"/>
          <p:nvPr/>
        </p:nvSpPr>
        <p:spPr>
          <a:xfrm>
            <a:off x="777240" y="1691640"/>
            <a:ext cx="4937760" cy="173736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chemeClr val="tx1"/>
                </a:solidFill>
              </a:rPr>
              <a:t>CRM snapshot (pasted export): properties, methodology fields, contacts, Next Step Log, Notes, stage, Close Date and Forecast Category history.</a:t>
            </a:r>
            <a:endParaRPr lang="en-US" sz="1200" dirty="0"/>
          </a:p>
          <a:p>
            <a:pPr marL="342900" indent="-342900">
              <a:spcAft>
                <a:spcPts val="500"/>
              </a:spcAft>
              <a:buSzPct val="100000"/>
              <a:buChar char="•"/>
            </a:pPr>
            <a:r>
              <a:rPr lang="en-US" sz="1200" dirty="0">
                <a:solidFill>
                  <a:schemeClr val="tx1"/>
                </a:solidFill>
              </a:rPr>
              <a:t>Four call transcripts, timestamped: 7/14, 8/6, 8/27, 9/10.</a:t>
            </a:r>
            <a:endParaRPr lang="en-US" sz="1200" dirty="0"/>
          </a:p>
          <a:p>
            <a:pPr marL="342900" indent="-342900">
              <a:spcAft>
                <a:spcPts val="500"/>
              </a:spcAft>
              <a:buSzPct val="100000"/>
              <a:buChar char="•"/>
            </a:pPr>
            <a:r>
              <a:rPr lang="en-US" sz="1200" dirty="0">
                <a:solidFill>
                  <a:schemeClr val="tx1"/>
                </a:solidFill>
              </a:rPr>
              <a:t>Three email threads: 9/5, 9/18, 9/29 with the 10/3 reply.</a:t>
            </a:r>
            <a:endParaRPr lang="en-US" sz="1200" dirty="0"/>
          </a:p>
        </p:txBody>
      </p:sp>
      <p:sp>
        <p:nvSpPr>
          <p:cNvPr id="6" name="Text 4"/>
          <p:cNvSpPr txBox="1"/>
          <p:nvPr/>
        </p:nvSpPr>
        <p:spPr>
          <a:xfrm>
            <a:off x="777240" y="3520440"/>
            <a:ext cx="4937760" cy="320040"/>
          </a:xfrm>
          <a:prstGeom prst="rect">
            <a:avLst/>
          </a:prstGeom>
          <a:noFill/>
          <a:ln/>
        </p:spPr>
        <p:txBody>
          <a:bodyPr wrap="square" lIns="0" tIns="0" rIns="0" bIns="0" rtlCol="0" anchor="ctr"/>
          <a:lstStyle/>
          <a:p>
            <a:pPr indent="0" marL="0">
              <a:buNone/>
            </a:pPr>
            <a:r>
              <a:rPr lang="en-US" sz="1600" b="1" dirty="0">
                <a:solidFill>
                  <a:schemeClr val="accent5"/>
                </a:solidFill>
              </a:rPr>
              <a:t>Not available or not checked</a:t>
            </a:r>
            <a:endParaRPr lang="en-US" sz="1600" dirty="0"/>
          </a:p>
        </p:txBody>
      </p:sp>
      <p:sp>
        <p:nvSpPr>
          <p:cNvPr id="7" name="Text 5"/>
          <p:cNvSpPr txBox="1"/>
          <p:nvPr/>
        </p:nvSpPr>
        <p:spPr>
          <a:xfrm>
            <a:off x="777240" y="3886200"/>
            <a:ext cx="4937760" cy="228600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chemeClr val="tx1"/>
                </a:solidFill>
              </a:rPr>
              <a:t>unified-communication, a CRM connector, Gong, the rep's mailbox, calendar.</a:t>
            </a:r>
            <a:endParaRPr lang="en-US" sz="1200" dirty="0"/>
          </a:p>
          <a:p>
            <a:pPr marL="342900" indent="-342900">
              <a:spcAft>
                <a:spcPts val="500"/>
              </a:spcAft>
              <a:buSzPct val="100000"/>
              <a:buChar char="•"/>
            </a:pPr>
            <a:r>
              <a:rPr lang="en-US" sz="1200" dirty="0">
                <a:solidFill>
                  <a:schemeClr val="tx1"/>
                </a:solidFill>
              </a:rPr>
              <a:t>The proposal sent before 8/27, the 9/24 agreement, both redlines, the order form.</a:t>
            </a:r>
            <a:endParaRPr lang="en-US" sz="1200" dirty="0"/>
          </a:p>
          <a:p>
            <a:pPr marL="342900" indent="-342900">
              <a:spcAft>
                <a:spcPts val="500"/>
              </a:spcAft>
              <a:buSzPct val="100000"/>
              <a:buChar char="•"/>
            </a:pPr>
            <a:r>
              <a:rPr lang="en-US" sz="1200" dirty="0">
                <a:solidFill>
                  <a:schemeClr val="tx1"/>
                </a:solidFill>
              </a:rPr>
              <a:t>The deal desk approval record, the intro email, the 10/2 contact with Tom.</a:t>
            </a:r>
            <a:endParaRPr lang="en-US" sz="1200" dirty="0"/>
          </a:p>
          <a:p>
            <a:pPr marL="342900" indent="-342900">
              <a:spcAft>
                <a:spcPts val="500"/>
              </a:spcAft>
              <a:buSzPct val="100000"/>
              <a:buChar char="•"/>
            </a:pPr>
            <a:r>
              <a:rPr lang="en-US" sz="1200" dirty="0">
                <a:solidFill>
                  <a:schemeClr val="tx1"/>
                </a:solidFill>
              </a:rPr>
              <a:t>Forecast Category choices, definitions, stage exit criteria.</a:t>
            </a:r>
            <a:endParaRPr lang="en-US" sz="1200" dirty="0"/>
          </a:p>
        </p:txBody>
      </p:sp>
      <p:sp>
        <p:nvSpPr>
          <p:cNvPr id="8" name="Assumptions card"/>
          <p:cNvSpPr/>
          <p:nvPr/>
        </p:nvSpPr>
        <p:spPr>
          <a:xfrm>
            <a:off x="6217920" y="1188720"/>
            <a:ext cx="5394960" cy="5074920"/>
          </a:xfrm>
          <a:prstGeom prst="roundRect">
            <a:avLst>
              <a:gd name="adj" fmla="val 1441"/>
            </a:avLst>
          </a:prstGeom>
          <a:solidFill>
            <a:schemeClr val="bg2"/>
          </a:solidFill>
          <a:ln w="12700">
            <a:solidFill>
              <a:schemeClr val="bg2"/>
            </a:solidFill>
            <a:prstDash val="solid"/>
          </a:ln>
        </p:spPr>
      </p:sp>
      <p:sp>
        <p:nvSpPr>
          <p:cNvPr id="9" name="Text 7"/>
          <p:cNvSpPr txBox="1"/>
          <p:nvPr/>
        </p:nvSpPr>
        <p:spPr>
          <a:xfrm>
            <a:off x="6446520" y="1325880"/>
            <a:ext cx="4937760" cy="320040"/>
          </a:xfrm>
          <a:prstGeom prst="rect">
            <a:avLst/>
          </a:prstGeom>
          <a:noFill/>
          <a:ln/>
        </p:spPr>
        <p:txBody>
          <a:bodyPr wrap="square" lIns="0" tIns="0" rIns="0" bIns="0" rtlCol="0" anchor="ctr"/>
          <a:lstStyle/>
          <a:p>
            <a:pPr indent="0" marL="0">
              <a:buNone/>
            </a:pPr>
            <a:r>
              <a:rPr lang="en-US" sz="1600" b="1" dirty="0">
                <a:solidFill>
                  <a:schemeClr val="tx2"/>
                </a:solidFill>
              </a:rPr>
              <a:t>Assumptions</a:t>
            </a:r>
            <a:endParaRPr lang="en-US" sz="1600" dirty="0"/>
          </a:p>
        </p:txBody>
      </p:sp>
      <p:sp>
        <p:nvSpPr>
          <p:cNvPr id="10" name="Text 8"/>
          <p:cNvSpPr txBox="1"/>
          <p:nvPr/>
        </p:nvSpPr>
        <p:spPr>
          <a:xfrm>
            <a:off x="6446520" y="1691640"/>
            <a:ext cx="4937760" cy="448056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chemeClr val="tx1"/>
                </a:solidFill>
              </a:rPr>
              <a:t>Rep mode; the presenter is Maya Patel, the Deal Owner in the CRM.</a:t>
            </a:r>
            <a:endParaRPr lang="en-US" sz="1200" dirty="0"/>
          </a:p>
          <a:p>
            <a:pPr marL="342900" indent="-342900">
              <a:spcAft>
                <a:spcPts val="500"/>
              </a:spcAft>
              <a:buSzPct val="100000"/>
              <a:buChar char="•"/>
            </a:pPr>
            <a:r>
              <a:rPr lang="en-US" sz="1200" dirty="0">
                <a:solidFill>
                  <a:schemeClr val="tx1"/>
                </a:solidFill>
              </a:rPr>
              <a:t>New business. Today is Wed 10/7/2026.</a:t>
            </a:r>
            <a:endParaRPr lang="en-US" sz="1200" dirty="0"/>
          </a:p>
          <a:p>
            <a:pPr marL="342900" indent="-342900">
              <a:spcAft>
                <a:spcPts val="500"/>
              </a:spcAft>
              <a:buSzPct val="100000"/>
              <a:buChar char="•"/>
            </a:pPr>
            <a:r>
              <a:rPr lang="en-US" sz="1200" dirty="0">
                <a:solidFill>
                  <a:schemeClr val="tx1"/>
                </a:solidFill>
              </a:rPr>
              <a:t>Methodology: CRM labels follow MEDDPICC; the calls do not use the vocabulary by name.</a:t>
            </a:r>
            <a:endParaRPr lang="en-US" sz="1200" dirty="0"/>
          </a:p>
          <a:p>
            <a:pPr marL="342900" indent="-342900">
              <a:spcAft>
                <a:spcPts val="500"/>
              </a:spcAft>
              <a:buSzPct val="100000"/>
              <a:buChar char="•"/>
            </a:pPr>
            <a:r>
              <a:rPr lang="en-US" sz="1200" dirty="0">
                <a:solidFill>
                  <a:schemeClr val="tx1"/>
                </a:solidFill>
              </a:rPr>
              <a:t>Window: 7/8 (created) to 10/7. Call files are treated as transcripts and may be excerpts.</a:t>
            </a:r>
            <a:endParaRPr lang="en-US" sz="1200" dirty="0"/>
          </a:p>
          <a:p>
            <a:pPr marL="342900" indent="-342900">
              <a:spcAft>
                <a:spcPts val="500"/>
              </a:spcAft>
              <a:buSzPct val="100000"/>
              <a:buChar char="•"/>
            </a:pPr>
            <a:r>
              <a:rPr lang="en-US" sz="1200" dirty="0">
                <a:solidFill>
                  <a:schemeClr val="tx1"/>
                </a:solidFill>
              </a:rPr>
              <a:t>Forecast Category names assumed from the CRM history: Pipeline, Best Case, Commit.</a:t>
            </a:r>
            <a:endParaRPr lang="en-US" sz="1200" dirty="0"/>
          </a:p>
          <a:p>
            <a:pPr marL="342900" indent="-342900">
              <a:spcAft>
                <a:spcPts val="500"/>
              </a:spcAft>
              <a:buSzPct val="100000"/>
              <a:buChar char="•"/>
            </a:pPr>
            <a:r>
              <a:rPr lang="en-US" sz="1200" dirty="0">
                <a:solidFill>
                  <a:schemeClr val="tx1"/>
                </a:solidFill>
              </a:rPr>
              <a:t>Stage judged on the plain meaning of Contract Sent.</a:t>
            </a:r>
            <a:endParaRPr lang="en-US" sz="1200" dirty="0"/>
          </a:p>
          <a:p>
            <a:pPr marL="342900" indent="-342900">
              <a:spcAft>
                <a:spcPts val="500"/>
              </a:spcAft>
              <a:buSzPct val="100000"/>
              <a:buChar char="•"/>
            </a:pPr>
            <a:r>
              <a:rPr lang="en-US" sz="1200" dirty="0">
                <a:solidFill>
                  <a:schemeClr val="tx1"/>
                </a:solidFill>
              </a:rPr>
              <a:t>The CRM export could not be fetched in stages, so it was read as one file.</a:t>
            </a:r>
            <a:endParaRPr lang="en-US" sz="1200" dirty="0"/>
          </a:p>
        </p:txBody>
      </p:sp>
      <p:sp>
        <p:nvSpPr>
          <p:cNvPr id="25" name="Slide Number Placeholder 0"/>
          <p:cNvSpPr>
            <a:spLocks noGrp="1"/>
          </p:cNvSpPr>
          <p:nvPr>
            <p:ph type="sldNum" sz="quarter" idx="4294967295"/>
          </p:nvPr>
        </p:nvSpPr>
        <p:spPr>
          <a:xfrm>
            <a:off x="11247120" y="6419088"/>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l"/>
            <a:fld id="{F7021451-1387-4CA6-816F-3879F97B5CBC}" type="slidenum">
              <a:rPr b="0" lang="en-US"/>
              <a:t>12</a:t>
            </a:fld>
            <a:endParaRPr lang="en-US"/>
          </a:p>
        </p:txBody>
      </p:sp>
    </p:spTree>
  </p:cSld>
  <p:clrMapOvr>
    <a:masterClrMapping/>
  </p:clrMapOvr>
</p:sld>
</file>

<file path=ppt/theme/theme1.xml><?xml version="1.0" encoding="utf-8"?>
<a:theme xmlns:a="http://schemas.openxmlformats.org/drawingml/2006/main" name="Bluebird Review">
  <a:themeElements>
    <a:clrScheme name="Bluebird Review">
      <a:dk1>
        <a:srgbClr val="16222C"/>
      </a:dk1>
      <a:lt1>
        <a:srgbClr val="FFFFFF"/>
      </a:lt1>
      <a:dk2>
        <a:srgbClr val="163F5E"/>
      </a:dk2>
      <a:lt2>
        <a:srgbClr val="EDF2F6"/>
      </a:lt2>
      <a:accent1>
        <a:srgbClr val="2F6DB5"/>
      </a:accent1>
      <a:accent2>
        <a:srgbClr val="D9733A"/>
      </a:accent2>
      <a:accent3>
        <a:srgbClr val="1F7A5C"/>
      </a:accent3>
      <a:accent4>
        <a:srgbClr val="F0B93A"/>
      </a:accent4>
      <a:accent5>
        <a:srgbClr val="A63A3A"/>
      </a:accent5>
      <a:accent6>
        <a:srgbClr val="5F6C79"/>
      </a:accent6>
      <a:hlink>
        <a:srgbClr val="2F6DB5"/>
      </a:hlink>
      <a:folHlink>
        <a:srgbClr val="5F6C79"/>
      </a:folHlink>
    </a:clrScheme>
    <a:fontScheme name="Bluebird Review">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Bluebird Dental, Orbit Scheduling: deal review</dc:title>
  <dc:subject>PptxGenJS Presentation</dc:subject>
  <dc:creator>Deal review, rep mode</dc:creator>
  <cp:lastModifiedBy>Deal review, rep mode</cp:lastModifiedBy>
  <cp:revision>1</cp:revision>
  <dcterms:created xsi:type="dcterms:W3CDTF">2026-10-08T19:03:34Z</dcterms:created>
  <dcterms:modified xsi:type="dcterms:W3CDTF">2026-10-08T19:03:34Z</dcterms:modified>
</cp:coreProperties>
</file>